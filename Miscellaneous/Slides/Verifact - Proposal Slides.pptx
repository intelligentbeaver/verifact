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9" r:id="rId2"/>
    <p:sldId id="376" r:id="rId3"/>
    <p:sldId id="377" r:id="rId4"/>
    <p:sldId id="378" r:id="rId5"/>
    <p:sldId id="381" r:id="rId6"/>
    <p:sldId id="384" r:id="rId7"/>
    <p:sldId id="330" r:id="rId8"/>
    <p:sldId id="380" r:id="rId9"/>
    <p:sldId id="264" r:id="rId10"/>
    <p:sldId id="271" r:id="rId11"/>
    <p:sldId id="268" r:id="rId12"/>
    <p:sldId id="273" r:id="rId13"/>
    <p:sldId id="389" r:id="rId14"/>
    <p:sldId id="390" r:id="rId15"/>
    <p:sldId id="347" r:id="rId16"/>
    <p:sldId id="382" r:id="rId17"/>
    <p:sldId id="383" r:id="rId18"/>
    <p:sldId id="360" r:id="rId19"/>
    <p:sldId id="301" r:id="rId20"/>
    <p:sldId id="370" r:id="rId21"/>
    <p:sldId id="362" r:id="rId22"/>
    <p:sldId id="363" r:id="rId23"/>
    <p:sldId id="364" r:id="rId24"/>
    <p:sldId id="365" r:id="rId25"/>
    <p:sldId id="369" r:id="rId26"/>
    <p:sldId id="32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 userDrawn="1">
          <p15:clr>
            <a:srgbClr val="A4A3A4"/>
          </p15:clr>
        </p15:guide>
        <p15:guide id="4" pos="7296" userDrawn="1">
          <p15:clr>
            <a:srgbClr val="A4A3A4"/>
          </p15:clr>
        </p15:guide>
        <p15:guide id="6" orient="horz" pos="1776" userDrawn="1">
          <p15:clr>
            <a:srgbClr val="A4A3A4"/>
          </p15:clr>
        </p15:guide>
        <p15:guide id="7" pos="3840" userDrawn="1">
          <p15:clr>
            <a:srgbClr val="A4A3A4"/>
          </p15:clr>
        </p15:guide>
        <p15:guide id="8" orient="horz" pos="1416" userDrawn="1">
          <p15:clr>
            <a:srgbClr val="A4A3A4"/>
          </p15:clr>
        </p15:guide>
        <p15:guide id="10" orient="horz" pos="3888" userDrawn="1">
          <p15:clr>
            <a:srgbClr val="A4A3A4"/>
          </p15:clr>
        </p15:guide>
        <p15:guide id="11" orient="horz" pos="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F3FB"/>
    <a:srgbClr val="DFED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09504-C705-0720-CC21-5217A647A8C3}" v="27" dt="2025-12-12T15:21:48.901"/>
    <p1510:client id="{60DA0EF4-6796-5579-A673-A439BFC62FBC}" v="4931" dt="2025-12-12T16:48:27.486"/>
    <p1510:client id="{AB3CC14B-C230-C53E-5599-A791EFBADDFA}" v="4" dt="2025-12-12T15:18:36.816"/>
    <p1510:client id="{B1225058-1F1C-A26C-E282-1752A4BF4466}" v="44" dt="2025-12-12T16:42:32.009"/>
    <p1510:client id="{D07655F3-C346-4F9C-841E-AEFD349988C5}" v="4494" dt="2025-12-12T17:41:52.8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862" y="586"/>
      </p:cViewPr>
      <p:guideLst>
        <p:guide pos="384"/>
        <p:guide pos="7296"/>
        <p:guide orient="horz" pos="1776"/>
        <p:guide pos="3840"/>
        <p:guide orient="horz" pos="1416"/>
        <p:guide orient="horz" pos="3888"/>
        <p:guide orient="horz" pos="4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F0B10-A328-5BF3-60EC-DB71DC9F6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1A70B8-A778-8B43-8259-97FDB7621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E8DA23-60C7-5CC8-E685-9CACE5228226}"/>
              </a:ext>
            </a:extLst>
          </p:cNvPr>
          <p:cNvSpPr>
            <a:spLocks noGrp="1"/>
          </p:cNvSpPr>
          <p:nvPr>
            <p:ph type="dt" sz="half" idx="10"/>
          </p:nvPr>
        </p:nvSpPr>
        <p:spPr/>
        <p:txBody>
          <a:bodyPr/>
          <a:lstStyle/>
          <a:p>
            <a:fld id="{B0C3A2D5-E482-46DD-AEE0-AF5967591EE2}" type="datetimeFigureOut">
              <a:rPr lang="en-US" smtClean="0"/>
              <a:t>12/12/2025</a:t>
            </a:fld>
            <a:endParaRPr lang="en-US" dirty="0"/>
          </a:p>
        </p:txBody>
      </p:sp>
      <p:sp>
        <p:nvSpPr>
          <p:cNvPr id="5" name="Footer Placeholder 4">
            <a:extLst>
              <a:ext uri="{FF2B5EF4-FFF2-40B4-BE49-F238E27FC236}">
                <a16:creationId xmlns:a16="http://schemas.microsoft.com/office/drawing/2014/main" id="{1F463A0D-4BAF-8CCE-BCED-331E82D51958}"/>
              </a:ext>
            </a:extLst>
          </p:cNvPr>
          <p:cNvSpPr>
            <a:spLocks noGrp="1"/>
          </p:cNvSpPr>
          <p:nvPr>
            <p:ph type="ftr" sz="quarter" idx="11"/>
          </p:nvPr>
        </p:nvSpPr>
        <p:spPr/>
        <p:txBody>
          <a:bodyPr/>
          <a:lstStyle/>
          <a:p>
            <a:r>
              <a:rPr lang="en-US" dirty="0"/>
              <a:t>Detection, Tracing and Tracking of Health Misinformation</a:t>
            </a:r>
          </a:p>
        </p:txBody>
      </p:sp>
      <p:sp>
        <p:nvSpPr>
          <p:cNvPr id="6" name="Slide Number Placeholder 5">
            <a:extLst>
              <a:ext uri="{FF2B5EF4-FFF2-40B4-BE49-F238E27FC236}">
                <a16:creationId xmlns:a16="http://schemas.microsoft.com/office/drawing/2014/main" id="{DF8FFF49-E0E6-1340-4246-EEDAE2DA307F}"/>
              </a:ext>
            </a:extLst>
          </p:cNvPr>
          <p:cNvSpPr>
            <a:spLocks noGrp="1"/>
          </p:cNvSpPr>
          <p:nvPr>
            <p:ph type="sldNum" sz="quarter" idx="12"/>
          </p:nvPr>
        </p:nvSpPr>
        <p:spPr/>
        <p:txBody>
          <a:bodyPr/>
          <a:lstStyle/>
          <a:p>
            <a:fld id="{582BC9E9-00C1-4EBB-9F3E-0412E29374EF}" type="slidenum">
              <a:rPr lang="en-US" smtClean="0"/>
              <a:t>‹#›</a:t>
            </a:fld>
            <a:endParaRPr lang="en-US" dirty="0"/>
          </a:p>
        </p:txBody>
      </p:sp>
    </p:spTree>
    <p:extLst>
      <p:ext uri="{BB962C8B-B14F-4D97-AF65-F5344CB8AC3E}">
        <p14:creationId xmlns:p14="http://schemas.microsoft.com/office/powerpoint/2010/main" val="387463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393D2-5596-BDAF-4D2E-37E83905C4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C3D504-1166-37E4-705A-FAE810221B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06C64-C683-59A2-A922-BB67E3F3EB28}"/>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5" name="Footer Placeholder 4">
            <a:extLst>
              <a:ext uri="{FF2B5EF4-FFF2-40B4-BE49-F238E27FC236}">
                <a16:creationId xmlns:a16="http://schemas.microsoft.com/office/drawing/2014/main" id="{DD1CF2BA-338F-996A-5B9B-6AB6CE26BBF8}"/>
              </a:ext>
            </a:extLst>
          </p:cNvPr>
          <p:cNvSpPr>
            <a:spLocks noGrp="1"/>
          </p:cNvSpPr>
          <p:nvPr>
            <p:ph type="ftr" sz="quarter" idx="11"/>
          </p:nvPr>
        </p:nvSpPr>
        <p:spPr/>
        <p:txBody>
          <a:bodyPr/>
          <a:lstStyle/>
          <a:p>
            <a:r>
              <a:rPr lang="en-US" dirty="0"/>
              <a:t>Detection, Tracing and Tracking of Health Misinformation</a:t>
            </a:r>
          </a:p>
        </p:txBody>
      </p:sp>
      <p:sp>
        <p:nvSpPr>
          <p:cNvPr id="6" name="Slide Number Placeholder 5">
            <a:extLst>
              <a:ext uri="{FF2B5EF4-FFF2-40B4-BE49-F238E27FC236}">
                <a16:creationId xmlns:a16="http://schemas.microsoft.com/office/drawing/2014/main" id="{23C57950-CAE2-C8E7-9CA8-0CF4BDACA9CC}"/>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20991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CCFDC-2AE6-C933-DD6A-475E7B6ED7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8E78E7-0D24-3CE7-804D-AEA8E761EF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6E1A20-2570-EF64-1F8F-876E0409165F}"/>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5" name="Footer Placeholder 4">
            <a:extLst>
              <a:ext uri="{FF2B5EF4-FFF2-40B4-BE49-F238E27FC236}">
                <a16:creationId xmlns:a16="http://schemas.microsoft.com/office/drawing/2014/main" id="{0CE2D971-3861-6947-B280-ACFF59A27E42}"/>
              </a:ext>
            </a:extLst>
          </p:cNvPr>
          <p:cNvSpPr>
            <a:spLocks noGrp="1"/>
          </p:cNvSpPr>
          <p:nvPr>
            <p:ph type="ftr" sz="quarter" idx="11"/>
          </p:nvPr>
        </p:nvSpPr>
        <p:spPr/>
        <p:txBody>
          <a:bodyPr/>
          <a:lstStyle/>
          <a:p>
            <a:r>
              <a:rPr lang="en-US" dirty="0"/>
              <a:t>Detection, Tracing and Tracking of Health Misinformation</a:t>
            </a:r>
          </a:p>
        </p:txBody>
      </p:sp>
      <p:sp>
        <p:nvSpPr>
          <p:cNvPr id="6" name="Slide Number Placeholder 5">
            <a:extLst>
              <a:ext uri="{FF2B5EF4-FFF2-40B4-BE49-F238E27FC236}">
                <a16:creationId xmlns:a16="http://schemas.microsoft.com/office/drawing/2014/main" id="{FB142EC9-C1DF-9AC4-C84D-9AC73D9FA1E7}"/>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2500895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BB91-7958-5FAC-9BA8-25E5F5BCC4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44FA06-59E1-CB18-FD05-FAD323D15A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B7A585-A71C-1833-9460-7C730B3DE0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D74B36-B68D-F3F5-0A20-972DFF954F4E}"/>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6" name="Footer Placeholder 5">
            <a:extLst>
              <a:ext uri="{FF2B5EF4-FFF2-40B4-BE49-F238E27FC236}">
                <a16:creationId xmlns:a16="http://schemas.microsoft.com/office/drawing/2014/main" id="{463BA710-FB88-4AE2-EDFF-C312D98B1032}"/>
              </a:ext>
            </a:extLst>
          </p:cNvPr>
          <p:cNvSpPr>
            <a:spLocks noGrp="1"/>
          </p:cNvSpPr>
          <p:nvPr>
            <p:ph type="ftr" sz="quarter" idx="11"/>
          </p:nvPr>
        </p:nvSpPr>
        <p:spPr/>
        <p:txBody>
          <a:bodyPr/>
          <a:lstStyle/>
          <a:p>
            <a:r>
              <a:rPr lang="en-US" dirty="0"/>
              <a:t>Detection, Tracing and Tracking of Health Misinformation</a:t>
            </a:r>
          </a:p>
        </p:txBody>
      </p:sp>
      <p:sp>
        <p:nvSpPr>
          <p:cNvPr id="7" name="Slide Number Placeholder 6">
            <a:extLst>
              <a:ext uri="{FF2B5EF4-FFF2-40B4-BE49-F238E27FC236}">
                <a16:creationId xmlns:a16="http://schemas.microsoft.com/office/drawing/2014/main" id="{FE3E07BB-E883-3718-261F-18E1A2E52B09}"/>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351725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78DC-E024-D409-1893-B1E98AE416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DE3B27-6E38-2468-FB6F-53519E234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D040B6-84E7-59E5-42EB-09C05BED4F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0C2CF0-4554-71BE-EA59-489AEEB98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5F6275-CDC0-9A7F-5273-5FF256984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F5A2D2-FC05-C4A6-1068-D447A7DA04BE}"/>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8" name="Footer Placeholder 7">
            <a:extLst>
              <a:ext uri="{FF2B5EF4-FFF2-40B4-BE49-F238E27FC236}">
                <a16:creationId xmlns:a16="http://schemas.microsoft.com/office/drawing/2014/main" id="{18DC51E8-BB8F-B81A-71CB-7637CA12D8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B5800B-8986-8472-DD88-CCF787844230}"/>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317127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ED294-517B-4457-E41B-5D3D052913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29D5CA-05F4-3B19-EDFA-5F4845464160}"/>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4" name="Footer Placeholder 3">
            <a:extLst>
              <a:ext uri="{FF2B5EF4-FFF2-40B4-BE49-F238E27FC236}">
                <a16:creationId xmlns:a16="http://schemas.microsoft.com/office/drawing/2014/main" id="{485BD668-8C65-1542-361B-120D19E315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025FF3-EE99-7B36-B883-88087E418B3C}"/>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2569904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04638E-2400-C70F-7F9F-286D15169707}"/>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3" name="Footer Placeholder 2">
            <a:extLst>
              <a:ext uri="{FF2B5EF4-FFF2-40B4-BE49-F238E27FC236}">
                <a16:creationId xmlns:a16="http://schemas.microsoft.com/office/drawing/2014/main" id="{62E18CD7-27D8-051A-8D48-86D7374CB4C4}"/>
              </a:ext>
            </a:extLst>
          </p:cNvPr>
          <p:cNvSpPr>
            <a:spLocks noGrp="1"/>
          </p:cNvSpPr>
          <p:nvPr>
            <p:ph type="ftr" sz="quarter" idx="11"/>
          </p:nvPr>
        </p:nvSpPr>
        <p:spPr/>
        <p:txBody>
          <a:bodyPr/>
          <a:lstStyle/>
          <a:p>
            <a:r>
              <a:rPr lang="en-US" dirty="0"/>
              <a:t>Detection, Tracing and Tracking of Health Misinformation</a:t>
            </a:r>
          </a:p>
        </p:txBody>
      </p:sp>
      <p:sp>
        <p:nvSpPr>
          <p:cNvPr id="4" name="Slide Number Placeholder 3">
            <a:extLst>
              <a:ext uri="{FF2B5EF4-FFF2-40B4-BE49-F238E27FC236}">
                <a16:creationId xmlns:a16="http://schemas.microsoft.com/office/drawing/2014/main" id="{FC9A8BE8-C190-D10E-6C16-AA45D7203286}"/>
              </a:ext>
            </a:extLst>
          </p:cNvPr>
          <p:cNvSpPr>
            <a:spLocks noGrp="1"/>
          </p:cNvSpPr>
          <p:nvPr>
            <p:ph type="sldNum" sz="quarter" idx="12"/>
          </p:nvPr>
        </p:nvSpPr>
        <p:spPr/>
        <p:txBody>
          <a:bodyPr/>
          <a:lstStyle/>
          <a:p>
            <a:fld id="{582BC9E9-00C1-4EBB-9F3E-0412E29374EF}" type="slidenum">
              <a:rPr lang="en-US" smtClean="0"/>
              <a:t>‹#›</a:t>
            </a:fld>
            <a:endParaRPr lang="en-US" dirty="0"/>
          </a:p>
        </p:txBody>
      </p:sp>
    </p:spTree>
    <p:extLst>
      <p:ext uri="{BB962C8B-B14F-4D97-AF65-F5344CB8AC3E}">
        <p14:creationId xmlns:p14="http://schemas.microsoft.com/office/powerpoint/2010/main" val="14548678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54F6-1C70-D46E-5EFE-FDF90E48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DA05FA-F9A1-4710-57BA-0A36A96F11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0D648A-2042-19F0-DCA3-4127D8D08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FD569-741A-B3E1-8B00-2ED8BC920196}"/>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6" name="Footer Placeholder 5">
            <a:extLst>
              <a:ext uri="{FF2B5EF4-FFF2-40B4-BE49-F238E27FC236}">
                <a16:creationId xmlns:a16="http://schemas.microsoft.com/office/drawing/2014/main" id="{B0100803-1483-DB8C-94A7-CCD184CD4F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546BD5-06E7-FD9A-B1AE-202B3E6C1B2F}"/>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899004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518E-C5F5-AE4A-6B4C-7CEEB1AE75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D57A09-B072-87D9-7DC8-1EA4A694A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6509EE-C39A-DE03-CCB1-705CF8226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1A19E9-B436-6721-1262-41E316CE1B6E}"/>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6" name="Footer Placeholder 5">
            <a:extLst>
              <a:ext uri="{FF2B5EF4-FFF2-40B4-BE49-F238E27FC236}">
                <a16:creationId xmlns:a16="http://schemas.microsoft.com/office/drawing/2014/main" id="{2993F283-5807-796B-2C1A-1787F7849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34F01F-BFC2-2A71-7D7B-30E739AB47C8}"/>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1441422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7306-0511-FBB4-8CB8-6A148C8859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00963B-0AF1-F3D7-D8B1-7278021D8D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DD522C-980F-F2D6-BE5D-2A6FECC46232}"/>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5" name="Footer Placeholder 4">
            <a:extLst>
              <a:ext uri="{FF2B5EF4-FFF2-40B4-BE49-F238E27FC236}">
                <a16:creationId xmlns:a16="http://schemas.microsoft.com/office/drawing/2014/main" id="{F47D2987-C9B8-3A7C-C05C-64002E61E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13C940-528A-A7A3-407C-84EC5D7DC3EA}"/>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3466025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3B83EE-A0C6-B4B0-B76D-7605C57152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4E3965-13B3-59A5-973C-FEF2A53375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FA2987-C44D-8BD5-2EA8-CAD7B1BD7D3B}"/>
              </a:ext>
            </a:extLst>
          </p:cNvPr>
          <p:cNvSpPr>
            <a:spLocks noGrp="1"/>
          </p:cNvSpPr>
          <p:nvPr>
            <p:ph type="dt" sz="half" idx="10"/>
          </p:nvPr>
        </p:nvSpPr>
        <p:spPr/>
        <p:txBody>
          <a:bodyPr/>
          <a:lstStyle/>
          <a:p>
            <a:fld id="{B0C3A2D5-E482-46DD-AEE0-AF5967591EE2}" type="datetimeFigureOut">
              <a:rPr lang="en-US" smtClean="0"/>
              <a:t>12/12/2025</a:t>
            </a:fld>
            <a:endParaRPr lang="en-US"/>
          </a:p>
        </p:txBody>
      </p:sp>
      <p:sp>
        <p:nvSpPr>
          <p:cNvPr id="5" name="Footer Placeholder 4">
            <a:extLst>
              <a:ext uri="{FF2B5EF4-FFF2-40B4-BE49-F238E27FC236}">
                <a16:creationId xmlns:a16="http://schemas.microsoft.com/office/drawing/2014/main" id="{DE4B7BD5-8124-6DA2-3984-BFFAB8F6E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B74AB-5203-4B78-1D28-C69A2B19CEFC}"/>
              </a:ext>
            </a:extLst>
          </p:cNvPr>
          <p:cNvSpPr>
            <a:spLocks noGrp="1"/>
          </p:cNvSpPr>
          <p:nvPr>
            <p:ph type="sldNum" sz="quarter" idx="12"/>
          </p:nvPr>
        </p:nvSpPr>
        <p:spPr/>
        <p:txBody>
          <a:bodyPr/>
          <a:lstStyle/>
          <a:p>
            <a:fld id="{582BC9E9-00C1-4EBB-9F3E-0412E29374EF}" type="slidenum">
              <a:rPr lang="en-US" smtClean="0"/>
              <a:t>‹#›</a:t>
            </a:fld>
            <a:endParaRPr lang="en-US"/>
          </a:p>
        </p:txBody>
      </p:sp>
    </p:spTree>
    <p:extLst>
      <p:ext uri="{BB962C8B-B14F-4D97-AF65-F5344CB8AC3E}">
        <p14:creationId xmlns:p14="http://schemas.microsoft.com/office/powerpoint/2010/main" val="2858450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9F3F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92CEAE-D2F4-3AC9-860E-9C082EADDD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EC133BA-BEDA-54B9-5D6A-CA4DC99818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C73F7B2-106B-2BB9-BE6F-4B7FE477F2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C3A2D5-E482-46DD-AEE0-AF5967591EE2}" type="datetimeFigureOut">
              <a:rPr lang="en-US" smtClean="0"/>
              <a:t>12/12/2025</a:t>
            </a:fld>
            <a:endParaRPr lang="en-US"/>
          </a:p>
        </p:txBody>
      </p:sp>
      <p:sp>
        <p:nvSpPr>
          <p:cNvPr id="5" name="Footer Placeholder 4">
            <a:extLst>
              <a:ext uri="{FF2B5EF4-FFF2-40B4-BE49-F238E27FC236}">
                <a16:creationId xmlns:a16="http://schemas.microsoft.com/office/drawing/2014/main" id="{5EFE149B-80EE-4FF8-96F1-98319C330F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Detection, Tracing and Tracking of Health Misinformation</a:t>
            </a:r>
          </a:p>
        </p:txBody>
      </p:sp>
      <p:sp>
        <p:nvSpPr>
          <p:cNvPr id="6" name="Slide Number Placeholder 5">
            <a:extLst>
              <a:ext uri="{FF2B5EF4-FFF2-40B4-BE49-F238E27FC236}">
                <a16:creationId xmlns:a16="http://schemas.microsoft.com/office/drawing/2014/main" id="{D0C9B5CF-A023-8357-2763-F14E66D08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2BC9E9-00C1-4EBB-9F3E-0412E29374EF}" type="slidenum">
              <a:rPr lang="en-US" smtClean="0"/>
              <a:t>‹#›</a:t>
            </a:fld>
            <a:endParaRPr lang="en-US"/>
          </a:p>
        </p:txBody>
      </p:sp>
    </p:spTree>
    <p:extLst>
      <p:ext uri="{BB962C8B-B14F-4D97-AF65-F5344CB8AC3E}">
        <p14:creationId xmlns:p14="http://schemas.microsoft.com/office/powerpoint/2010/main" val="3377409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3F5FD82-96E7-4883-A8A5-659EECECEF48}"/>
              </a:ext>
            </a:extLst>
          </p:cNvPr>
          <p:cNvGrpSpPr/>
          <p:nvPr/>
        </p:nvGrpSpPr>
        <p:grpSpPr>
          <a:xfrm>
            <a:off x="0" y="272975"/>
            <a:ext cx="12192000" cy="4583369"/>
            <a:chOff x="0" y="103858"/>
            <a:chExt cx="12192000" cy="4583369"/>
          </a:xfrm>
        </p:grpSpPr>
        <p:sp>
          <p:nvSpPr>
            <p:cNvPr id="3" name="Google Shape;1740;p59">
              <a:extLst>
                <a:ext uri="{FF2B5EF4-FFF2-40B4-BE49-F238E27FC236}">
                  <a16:creationId xmlns:a16="http://schemas.microsoft.com/office/drawing/2014/main" id="{02F3E0EB-19AE-43B9-B6CE-934DAE884C45}"/>
                </a:ext>
              </a:extLst>
            </p:cNvPr>
            <p:cNvSpPr txBox="1">
              <a:spLocks/>
            </p:cNvSpPr>
            <p:nvPr/>
          </p:nvSpPr>
          <p:spPr>
            <a:xfrm>
              <a:off x="0" y="1832540"/>
              <a:ext cx="12192000" cy="2854687"/>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sz="2000" dirty="0"/>
                <a:t>A Major Project Proposal On</a:t>
              </a:r>
            </a:p>
            <a:p>
              <a:pPr algn="ctr">
                <a:spcBef>
                  <a:spcPts val="0"/>
                </a:spcBef>
              </a:pPr>
              <a:r>
                <a:rPr lang="en-US" sz="4000" b="1" dirty="0" err="1">
                  <a:solidFill>
                    <a:schemeClr val="tx2"/>
                  </a:solidFill>
                </a:rPr>
                <a:t>VeriFact</a:t>
              </a:r>
              <a:r>
                <a:rPr lang="en-US" sz="4000" b="1" dirty="0">
                  <a:solidFill>
                    <a:schemeClr val="tx2"/>
                  </a:solidFill>
                </a:rPr>
                <a:t> - Detection, Tracing and Tracking of Health Misinformation</a:t>
              </a:r>
            </a:p>
            <a:p>
              <a:pPr algn="ctr">
                <a:spcBef>
                  <a:spcPts val="0"/>
                </a:spcBef>
              </a:pPr>
              <a:endParaRPr lang="en-US" sz="1700" dirty="0"/>
            </a:p>
            <a:p>
              <a:pPr algn="ctr">
                <a:spcBef>
                  <a:spcPts val="0"/>
                </a:spcBef>
              </a:pPr>
              <a:r>
                <a:rPr lang="en-US" sz="1700" dirty="0"/>
                <a:t>Submitted in Partial Fulfillment of the Requirements for</a:t>
              </a:r>
            </a:p>
            <a:p>
              <a:pPr algn="ctr">
                <a:spcBef>
                  <a:spcPts val="0"/>
                </a:spcBef>
              </a:pPr>
              <a:r>
                <a:rPr lang="en-US" sz="1700" dirty="0"/>
                <a:t>The Degree of </a:t>
              </a:r>
              <a:r>
                <a:rPr lang="en-US" sz="1700" b="1" dirty="0"/>
                <a:t>Bachelor of Engineering in Information Technology</a:t>
              </a:r>
            </a:p>
            <a:p>
              <a:pPr algn="ctr">
                <a:spcBef>
                  <a:spcPts val="0"/>
                </a:spcBef>
              </a:pPr>
              <a:r>
                <a:rPr lang="en-US" sz="1700" dirty="0"/>
                <a:t>Under Pokhara University</a:t>
              </a:r>
            </a:p>
          </p:txBody>
        </p:sp>
        <p:pic>
          <p:nvPicPr>
            <p:cNvPr id="7" name="Picture 6">
              <a:extLst>
                <a:ext uri="{FF2B5EF4-FFF2-40B4-BE49-F238E27FC236}">
                  <a16:creationId xmlns:a16="http://schemas.microsoft.com/office/drawing/2014/main" id="{2475276A-7597-4792-90E8-964AF20D5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1217" y="103858"/>
              <a:ext cx="2409565" cy="2001164"/>
            </a:xfrm>
            <a:prstGeom prst="rect">
              <a:avLst/>
            </a:prstGeom>
          </p:spPr>
        </p:pic>
      </p:grpSp>
      <p:sp>
        <p:nvSpPr>
          <p:cNvPr id="13" name="TextBox 12">
            <a:extLst>
              <a:ext uri="{FF2B5EF4-FFF2-40B4-BE49-F238E27FC236}">
                <a16:creationId xmlns:a16="http://schemas.microsoft.com/office/drawing/2014/main" id="{AB4B094D-603C-08AE-18B1-FE868F15A7B9}"/>
              </a:ext>
            </a:extLst>
          </p:cNvPr>
          <p:cNvSpPr txBox="1"/>
          <p:nvPr/>
        </p:nvSpPr>
        <p:spPr>
          <a:xfrm>
            <a:off x="609600" y="7705739"/>
            <a:ext cx="10972800" cy="1015663"/>
          </a:xfrm>
          <a:prstGeom prst="rect">
            <a:avLst/>
          </a:prstGeom>
          <a:noFill/>
        </p:spPr>
        <p:txBody>
          <a:bodyPr wrap="square" rtlCol="0">
            <a:spAutoFit/>
          </a:bodyPr>
          <a:lstStyle/>
          <a:p>
            <a:r>
              <a:rPr lang="en-US" sz="6000" b="1" dirty="0">
                <a:latin typeface="+mj-lt"/>
              </a:rPr>
              <a:t>INTRODUCTION</a:t>
            </a:r>
          </a:p>
        </p:txBody>
      </p:sp>
      <p:sp>
        <p:nvSpPr>
          <p:cNvPr id="14" name="TextBox 13">
            <a:extLst>
              <a:ext uri="{FF2B5EF4-FFF2-40B4-BE49-F238E27FC236}">
                <a16:creationId xmlns:a16="http://schemas.microsoft.com/office/drawing/2014/main" id="{092D6FA2-3B2F-E907-E85F-D48C94D83747}"/>
              </a:ext>
            </a:extLst>
          </p:cNvPr>
          <p:cNvSpPr txBox="1"/>
          <p:nvPr/>
        </p:nvSpPr>
        <p:spPr>
          <a:xfrm>
            <a:off x="609600" y="9299330"/>
            <a:ext cx="10972800" cy="3090526"/>
          </a:xfrm>
          <a:prstGeom prst="rect">
            <a:avLst/>
          </a:prstGeom>
          <a:noFill/>
        </p:spPr>
        <p:txBody>
          <a:bodyPr wrap="square" lIns="91440" tIns="45720" rIns="91440" bIns="45720" rtlCol="0" anchor="t">
            <a:spAutoFit/>
          </a:bodyPr>
          <a:lstStyle/>
          <a:p>
            <a:pPr>
              <a:lnSpc>
                <a:spcPct val="150000"/>
              </a:lnSpc>
            </a:pPr>
            <a:r>
              <a:rPr lang="en-US" sz="2200" b="1" dirty="0"/>
              <a:t>Detection, Tracking and Tracing of Health Misinformation </a:t>
            </a:r>
            <a:r>
              <a:rPr lang="en-US" sz="2200" dirty="0"/>
              <a:t>is a system designed to help users verify health related claims found on social media. It analyzes text, images to identify whether the information is misleading or not. The system also traces where the misinformation likely originated from and tracks how it spreads across the platforms. </a:t>
            </a:r>
            <a:r>
              <a:rPr lang="en-US" sz="2200" dirty="0">
                <a:ea typeface="+mn-lt"/>
                <a:cs typeface="+mn-lt"/>
              </a:rPr>
              <a:t>In this presentation, we will explore problems and motivation, objectives, project scope and limitations.</a:t>
            </a:r>
            <a:endParaRPr lang="en-US" sz="2200" dirty="0"/>
          </a:p>
        </p:txBody>
      </p:sp>
      <p:sp>
        <p:nvSpPr>
          <p:cNvPr id="16" name="TextBox 15">
            <a:extLst>
              <a:ext uri="{FF2B5EF4-FFF2-40B4-BE49-F238E27FC236}">
                <a16:creationId xmlns:a16="http://schemas.microsoft.com/office/drawing/2014/main" id="{7FC5CBB8-B0C3-89C3-9324-B84C5995E748}"/>
              </a:ext>
            </a:extLst>
          </p:cNvPr>
          <p:cNvSpPr txBox="1"/>
          <p:nvPr/>
        </p:nvSpPr>
        <p:spPr>
          <a:xfrm>
            <a:off x="5020866" y="5000314"/>
            <a:ext cx="2150269" cy="461665"/>
          </a:xfrm>
          <a:prstGeom prst="rect">
            <a:avLst/>
          </a:prstGeom>
          <a:noFill/>
        </p:spPr>
        <p:txBody>
          <a:bodyPr wrap="none" rtlCol="0">
            <a:spAutoFit/>
          </a:bodyPr>
          <a:lstStyle/>
          <a:p>
            <a:r>
              <a:rPr lang="en-US" sz="2400" b="1" dirty="0"/>
              <a:t>Submitted By:</a:t>
            </a:r>
          </a:p>
        </p:txBody>
      </p:sp>
      <p:sp>
        <p:nvSpPr>
          <p:cNvPr id="17" name="TextBox 16">
            <a:extLst>
              <a:ext uri="{FF2B5EF4-FFF2-40B4-BE49-F238E27FC236}">
                <a16:creationId xmlns:a16="http://schemas.microsoft.com/office/drawing/2014/main" id="{B0B24DAC-3F89-3A86-6DA7-231155FADD31}"/>
              </a:ext>
            </a:extLst>
          </p:cNvPr>
          <p:cNvSpPr txBox="1"/>
          <p:nvPr/>
        </p:nvSpPr>
        <p:spPr>
          <a:xfrm>
            <a:off x="2336800" y="5405120"/>
            <a:ext cx="7518400" cy="923330"/>
          </a:xfrm>
          <a:prstGeom prst="rect">
            <a:avLst/>
          </a:prstGeom>
          <a:noFill/>
        </p:spPr>
        <p:txBody>
          <a:bodyPr wrap="square" numCol="2" rtlCol="0">
            <a:spAutoFit/>
          </a:bodyPr>
          <a:lstStyle/>
          <a:p>
            <a:pPr algn="ctr">
              <a:lnSpc>
                <a:spcPct val="150000"/>
              </a:lnSpc>
            </a:pPr>
            <a:r>
              <a:rPr lang="en-US" b="1" dirty="0"/>
              <a:t>Aman Sheikh</a:t>
            </a:r>
            <a:r>
              <a:rPr lang="en-US" dirty="0"/>
              <a:t>, 211506 </a:t>
            </a:r>
          </a:p>
          <a:p>
            <a:pPr algn="ctr">
              <a:lnSpc>
                <a:spcPct val="150000"/>
              </a:lnSpc>
            </a:pPr>
            <a:r>
              <a:rPr lang="en-US" b="1" dirty="0"/>
              <a:t>Prashanta Rokaya</a:t>
            </a:r>
            <a:r>
              <a:rPr lang="en-US" dirty="0"/>
              <a:t>, 211528 </a:t>
            </a:r>
          </a:p>
          <a:p>
            <a:pPr algn="ctr">
              <a:lnSpc>
                <a:spcPct val="150000"/>
              </a:lnSpc>
            </a:pPr>
            <a:r>
              <a:rPr lang="en-US" b="1" dirty="0"/>
              <a:t>Shikshya K.C</a:t>
            </a:r>
            <a:r>
              <a:rPr lang="en-US" dirty="0"/>
              <a:t>, 211541 </a:t>
            </a:r>
          </a:p>
          <a:p>
            <a:pPr algn="ctr">
              <a:lnSpc>
                <a:spcPct val="150000"/>
              </a:lnSpc>
            </a:pPr>
            <a:r>
              <a:rPr lang="en-US" b="1" dirty="0"/>
              <a:t>Shreya Khanal</a:t>
            </a:r>
            <a:r>
              <a:rPr lang="en-US" dirty="0"/>
              <a:t>, 211546</a:t>
            </a:r>
          </a:p>
        </p:txBody>
      </p:sp>
    </p:spTree>
    <p:extLst>
      <p:ext uri="{BB962C8B-B14F-4D97-AF65-F5344CB8AC3E}">
        <p14:creationId xmlns:p14="http://schemas.microsoft.com/office/powerpoint/2010/main" val="1409499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C35D2-8562-B483-F3CC-0FB474BB5F9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24174E1-0E24-7888-6FA3-3DFC0BB92B49}"/>
              </a:ext>
            </a:extLst>
          </p:cNvPr>
          <p:cNvGrpSpPr/>
          <p:nvPr/>
        </p:nvGrpSpPr>
        <p:grpSpPr>
          <a:xfrm>
            <a:off x="0" y="-6162750"/>
            <a:ext cx="12192000" cy="6087418"/>
            <a:chOff x="0" y="205458"/>
            <a:chExt cx="12192000" cy="6087418"/>
          </a:xfrm>
        </p:grpSpPr>
        <p:sp>
          <p:nvSpPr>
            <p:cNvPr id="3" name="Google Shape;1740;p59">
              <a:extLst>
                <a:ext uri="{FF2B5EF4-FFF2-40B4-BE49-F238E27FC236}">
                  <a16:creationId xmlns:a16="http://schemas.microsoft.com/office/drawing/2014/main" id="{778A7CC4-72AF-C799-B19D-6795C66B6ED0}"/>
                </a:ext>
              </a:extLst>
            </p:cNvPr>
            <p:cNvSpPr txBox="1">
              <a:spLocks/>
            </p:cNvSpPr>
            <p:nvPr/>
          </p:nvSpPr>
          <p:spPr>
            <a:xfrm>
              <a:off x="0" y="2443870"/>
              <a:ext cx="12192000" cy="2854687"/>
            </a:xfrm>
            <a:prstGeom prst="rect">
              <a:avLst/>
            </a:prstGeom>
          </p:spPr>
          <p:txBody>
            <a:bodyPr spcFirstLastPara="1" wrap="square" lIns="91425" tIns="91425" rIns="91425" bIns="91425"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sz="2000"/>
                <a:t>A Major Project Proposal On</a:t>
              </a:r>
            </a:p>
            <a:p>
              <a:pPr algn="ctr">
                <a:spcBef>
                  <a:spcPts val="0"/>
                </a:spcBef>
              </a:pPr>
              <a:r>
                <a:rPr lang="en-US" sz="4000" b="1" err="1">
                  <a:solidFill>
                    <a:schemeClr val="tx2"/>
                  </a:solidFill>
                </a:rPr>
                <a:t>VeriFact</a:t>
              </a:r>
              <a:r>
                <a:rPr lang="en-US" sz="4000" b="1">
                  <a:solidFill>
                    <a:schemeClr val="tx2"/>
                  </a:solidFill>
                </a:rPr>
                <a:t> - Detection, Tracing and Tracking of Health Misinformation</a:t>
              </a:r>
            </a:p>
            <a:p>
              <a:pPr algn="ctr">
                <a:spcBef>
                  <a:spcPts val="0"/>
                </a:spcBef>
              </a:pPr>
              <a:r>
                <a:rPr lang="en-US" sz="1700"/>
                <a:t>Submitted in Partial Fulfillment of the Requirements for</a:t>
              </a:r>
            </a:p>
            <a:p>
              <a:pPr algn="ctr">
                <a:spcBef>
                  <a:spcPts val="0"/>
                </a:spcBef>
              </a:pPr>
              <a:r>
                <a:rPr lang="en-US" sz="1700"/>
                <a:t>The Degree of </a:t>
              </a:r>
              <a:r>
                <a:rPr lang="en-US" sz="1700" b="1"/>
                <a:t>Bachelor of Engineering in Information Technology</a:t>
              </a:r>
            </a:p>
            <a:p>
              <a:pPr algn="ctr">
                <a:spcBef>
                  <a:spcPts val="0"/>
                </a:spcBef>
              </a:pPr>
              <a:r>
                <a:rPr lang="en-US" sz="1700"/>
                <a:t>Under Pokhara University</a:t>
              </a:r>
            </a:p>
          </p:txBody>
        </p:sp>
        <p:sp>
          <p:nvSpPr>
            <p:cNvPr id="4" name="Google Shape;1741;p59">
              <a:extLst>
                <a:ext uri="{FF2B5EF4-FFF2-40B4-BE49-F238E27FC236}">
                  <a16:creationId xmlns:a16="http://schemas.microsoft.com/office/drawing/2014/main" id="{B9F9D89A-715E-F70F-49A5-5D8FE2389286}"/>
                </a:ext>
              </a:extLst>
            </p:cNvPr>
            <p:cNvSpPr txBox="1">
              <a:spLocks/>
            </p:cNvSpPr>
            <p:nvPr/>
          </p:nvSpPr>
          <p:spPr>
            <a:xfrm>
              <a:off x="495300" y="5298557"/>
              <a:ext cx="11201400" cy="99431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Font typeface="Arial" panose="020B0604020202020204" pitchFamily="34" charset="0"/>
                <a:buNone/>
              </a:pPr>
              <a:r>
                <a:rPr lang="en-US" sz="2400" b="1"/>
                <a:t>Submitted by:</a:t>
              </a:r>
            </a:p>
            <a:p>
              <a:pPr marL="0" indent="0" algn="ctr">
                <a:lnSpc>
                  <a:spcPct val="150000"/>
                </a:lnSpc>
                <a:spcBef>
                  <a:spcPts val="0"/>
                </a:spcBef>
                <a:buNone/>
              </a:pPr>
              <a:r>
                <a:rPr lang="en-US" sz="2000" b="1"/>
                <a:t>Aman Sheikh</a:t>
              </a:r>
              <a:r>
                <a:rPr lang="en-US" sz="2000"/>
                <a:t>, 211506, </a:t>
              </a:r>
              <a:r>
                <a:rPr lang="en-US" sz="2000" b="1"/>
                <a:t>Prashanta Rokaya</a:t>
              </a:r>
              <a:r>
                <a:rPr lang="en-US" sz="2000"/>
                <a:t>, 211528, </a:t>
              </a:r>
              <a:r>
                <a:rPr lang="en-US" sz="2000" b="1"/>
                <a:t>Shikshya K.C</a:t>
              </a:r>
              <a:r>
                <a:rPr lang="en-US" sz="2000"/>
                <a:t>, 211541, </a:t>
              </a:r>
              <a:r>
                <a:rPr lang="en-US" sz="2000" b="1"/>
                <a:t>Shreya Khanal</a:t>
              </a:r>
              <a:r>
                <a:rPr lang="en-US" sz="2000"/>
                <a:t>, 211546</a:t>
              </a:r>
            </a:p>
          </p:txBody>
        </p:sp>
        <p:pic>
          <p:nvPicPr>
            <p:cNvPr id="7" name="Picture 6">
              <a:extLst>
                <a:ext uri="{FF2B5EF4-FFF2-40B4-BE49-F238E27FC236}">
                  <a16:creationId xmlns:a16="http://schemas.microsoft.com/office/drawing/2014/main" id="{4B80FB36-7EFE-1C39-8839-26491B706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1217" y="205458"/>
              <a:ext cx="2409565" cy="2001164"/>
            </a:xfrm>
            <a:prstGeom prst="rect">
              <a:avLst/>
            </a:prstGeom>
          </p:spPr>
        </p:pic>
      </p:grpSp>
      <p:sp>
        <p:nvSpPr>
          <p:cNvPr id="13" name="TextBox 12">
            <a:extLst>
              <a:ext uri="{FF2B5EF4-FFF2-40B4-BE49-F238E27FC236}">
                <a16:creationId xmlns:a16="http://schemas.microsoft.com/office/drawing/2014/main" id="{D2987792-5237-A5EB-B10E-537934286D17}"/>
              </a:ext>
            </a:extLst>
          </p:cNvPr>
          <p:cNvSpPr txBox="1"/>
          <p:nvPr/>
        </p:nvSpPr>
        <p:spPr>
          <a:xfrm>
            <a:off x="609600" y="1187705"/>
            <a:ext cx="10972800" cy="1015663"/>
          </a:xfrm>
          <a:prstGeom prst="rect">
            <a:avLst/>
          </a:prstGeom>
          <a:noFill/>
        </p:spPr>
        <p:txBody>
          <a:bodyPr wrap="square" rtlCol="0">
            <a:spAutoFit/>
          </a:bodyPr>
          <a:lstStyle/>
          <a:p>
            <a:r>
              <a:rPr lang="en-US" sz="6000" b="1" dirty="0">
                <a:latin typeface="+mj-lt"/>
              </a:rPr>
              <a:t>INTRODUCTION</a:t>
            </a:r>
          </a:p>
        </p:txBody>
      </p:sp>
      <p:sp>
        <p:nvSpPr>
          <p:cNvPr id="14" name="TextBox 13">
            <a:extLst>
              <a:ext uri="{FF2B5EF4-FFF2-40B4-BE49-F238E27FC236}">
                <a16:creationId xmlns:a16="http://schemas.microsoft.com/office/drawing/2014/main" id="{5CE6A50D-9DBA-EF08-49C8-5E331C7D8310}"/>
              </a:ext>
            </a:extLst>
          </p:cNvPr>
          <p:cNvSpPr txBox="1"/>
          <p:nvPr/>
        </p:nvSpPr>
        <p:spPr>
          <a:xfrm>
            <a:off x="609600" y="2781296"/>
            <a:ext cx="10972800" cy="3090526"/>
          </a:xfrm>
          <a:prstGeom prst="rect">
            <a:avLst/>
          </a:prstGeom>
          <a:noFill/>
        </p:spPr>
        <p:txBody>
          <a:bodyPr wrap="square" lIns="91440" tIns="45720" rIns="91440" bIns="45720" rtlCol="0" anchor="t">
            <a:spAutoFit/>
          </a:bodyPr>
          <a:lstStyle/>
          <a:p>
            <a:pPr>
              <a:lnSpc>
                <a:spcPct val="150000"/>
              </a:lnSpc>
            </a:pPr>
            <a:r>
              <a:rPr lang="en-US" sz="2200" b="1" dirty="0"/>
              <a:t>Detection, Tracking and Tracing of Health Misinformation </a:t>
            </a:r>
            <a:r>
              <a:rPr lang="en-US" sz="2200" dirty="0"/>
              <a:t>is a system designed to help users verify health related claims found on social media. It analyzes text, images to identify whether the information is misleading or not. The system also traces where the misinformation likely originated from and tracks how it spreads across the platforms. </a:t>
            </a:r>
            <a:r>
              <a:rPr lang="en-US" sz="2200" dirty="0">
                <a:ea typeface="+mn-lt"/>
                <a:cs typeface="+mn-lt"/>
              </a:rPr>
              <a:t>In this presentation, we will explore problems and motivation, objectives, project scope and limitations.</a:t>
            </a:r>
            <a:endParaRPr lang="en-US" sz="2200" dirty="0"/>
          </a:p>
        </p:txBody>
      </p:sp>
      <p:sp>
        <p:nvSpPr>
          <p:cNvPr id="6" name="TextBox 5">
            <a:extLst>
              <a:ext uri="{FF2B5EF4-FFF2-40B4-BE49-F238E27FC236}">
                <a16:creationId xmlns:a16="http://schemas.microsoft.com/office/drawing/2014/main" id="{DD59444B-0AE4-0996-80A7-99DDD0DCF9F2}"/>
              </a:ext>
            </a:extLst>
          </p:cNvPr>
          <p:cNvSpPr txBox="1"/>
          <p:nvPr/>
        </p:nvSpPr>
        <p:spPr>
          <a:xfrm>
            <a:off x="609600" y="6891626"/>
            <a:ext cx="11201400" cy="1015663"/>
          </a:xfrm>
          <a:prstGeom prst="rect">
            <a:avLst/>
          </a:prstGeom>
          <a:noFill/>
        </p:spPr>
        <p:txBody>
          <a:bodyPr wrap="square" rtlCol="0">
            <a:spAutoFit/>
          </a:bodyPr>
          <a:lstStyle/>
          <a:p>
            <a:r>
              <a:rPr lang="en-US" sz="6000" b="1" dirty="0">
                <a:latin typeface="+mj-lt"/>
              </a:rPr>
              <a:t>PROBLEM STATEMENT</a:t>
            </a:r>
          </a:p>
        </p:txBody>
      </p:sp>
      <p:sp>
        <p:nvSpPr>
          <p:cNvPr id="8" name="TextBox 7">
            <a:extLst>
              <a:ext uri="{FF2B5EF4-FFF2-40B4-BE49-F238E27FC236}">
                <a16:creationId xmlns:a16="http://schemas.microsoft.com/office/drawing/2014/main" id="{6288DA80-3618-D6A5-1C4B-C25C34D1575C}"/>
              </a:ext>
            </a:extLst>
          </p:cNvPr>
          <p:cNvSpPr txBox="1"/>
          <p:nvPr/>
        </p:nvSpPr>
        <p:spPr>
          <a:xfrm>
            <a:off x="582567" y="8413401"/>
            <a:ext cx="11239499" cy="2709653"/>
          </a:xfrm>
          <a:prstGeom prst="rect">
            <a:avLst/>
          </a:prstGeom>
          <a:noFill/>
        </p:spPr>
        <p:txBody>
          <a:bodyPr wrap="square" lIns="91440" tIns="45720" rIns="91440" bIns="45720" rtlCol="0" anchor="t">
            <a:spAutoFit/>
          </a:bodyPr>
          <a:lstStyle/>
          <a:p>
            <a:pPr marL="457200" indent="-457200">
              <a:lnSpc>
                <a:spcPct val="200000"/>
              </a:lnSpc>
              <a:buFont typeface="Arial" panose="020B0604020202020204" pitchFamily="34" charset="0"/>
              <a:buChar char="•"/>
            </a:pPr>
            <a:r>
              <a:rPr lang="en-US" sz="2200" b="1"/>
              <a:t>Rapid circulation of false health misinformation on social media</a:t>
            </a:r>
          </a:p>
          <a:p>
            <a:pPr marL="457200" indent="-457200">
              <a:lnSpc>
                <a:spcPct val="200000"/>
              </a:lnSpc>
              <a:buFont typeface="Arial" panose="020B0604020202020204" pitchFamily="34" charset="0"/>
              <a:buChar char="•"/>
            </a:pPr>
            <a:r>
              <a:rPr lang="en-US" sz="2200" b="1"/>
              <a:t>Limited ability for individuals to verify authenticity of health related claims</a:t>
            </a:r>
          </a:p>
          <a:p>
            <a:pPr marL="457200" indent="-457200">
              <a:lnSpc>
                <a:spcPct val="200000"/>
              </a:lnSpc>
              <a:buFont typeface="Arial" panose="020B0604020202020204" pitchFamily="34" charset="0"/>
              <a:buChar char="•"/>
            </a:pPr>
            <a:r>
              <a:rPr lang="en-US" sz="2200" b="1"/>
              <a:t>Few tools that help understand where health claims came from</a:t>
            </a:r>
          </a:p>
          <a:p>
            <a:pPr marL="457200" indent="-457200">
              <a:lnSpc>
                <a:spcPct val="200000"/>
              </a:lnSpc>
              <a:buFont typeface="Arial" panose="020B0604020202020204" pitchFamily="34" charset="0"/>
              <a:buChar char="•"/>
            </a:pPr>
            <a:endParaRPr lang="en-US" sz="2200" b="1"/>
          </a:p>
        </p:txBody>
      </p:sp>
    </p:spTree>
    <p:extLst>
      <p:ext uri="{BB962C8B-B14F-4D97-AF65-F5344CB8AC3E}">
        <p14:creationId xmlns:p14="http://schemas.microsoft.com/office/powerpoint/2010/main" val="2427735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6CE01-AA33-7584-8D61-D0710B58EC6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88D7D24-E257-1DAC-E270-3A6DC37EB004}"/>
              </a:ext>
            </a:extLst>
          </p:cNvPr>
          <p:cNvSpPr txBox="1"/>
          <p:nvPr/>
        </p:nvSpPr>
        <p:spPr>
          <a:xfrm>
            <a:off x="609600" y="-4847335"/>
            <a:ext cx="10972800" cy="1015663"/>
          </a:xfrm>
          <a:prstGeom prst="rect">
            <a:avLst/>
          </a:prstGeom>
          <a:noFill/>
        </p:spPr>
        <p:txBody>
          <a:bodyPr wrap="square" rtlCol="0">
            <a:spAutoFit/>
          </a:bodyPr>
          <a:lstStyle/>
          <a:p>
            <a:r>
              <a:rPr lang="en-US" sz="6000" b="1" dirty="0">
                <a:latin typeface="+mj-lt"/>
              </a:rPr>
              <a:t>INTRODUCTION</a:t>
            </a:r>
          </a:p>
        </p:txBody>
      </p:sp>
      <p:sp>
        <p:nvSpPr>
          <p:cNvPr id="14" name="TextBox 13">
            <a:extLst>
              <a:ext uri="{FF2B5EF4-FFF2-40B4-BE49-F238E27FC236}">
                <a16:creationId xmlns:a16="http://schemas.microsoft.com/office/drawing/2014/main" id="{DE768600-E8B5-47E2-A996-E911840E7AA8}"/>
              </a:ext>
            </a:extLst>
          </p:cNvPr>
          <p:cNvSpPr txBox="1"/>
          <p:nvPr/>
        </p:nvSpPr>
        <p:spPr>
          <a:xfrm>
            <a:off x="609600" y="-3253744"/>
            <a:ext cx="10972800" cy="3090526"/>
          </a:xfrm>
          <a:prstGeom prst="rect">
            <a:avLst/>
          </a:prstGeom>
          <a:noFill/>
        </p:spPr>
        <p:txBody>
          <a:bodyPr wrap="square" lIns="91440" tIns="45720" rIns="91440" bIns="45720" rtlCol="0" anchor="t">
            <a:spAutoFit/>
          </a:bodyPr>
          <a:lstStyle/>
          <a:p>
            <a:pPr>
              <a:lnSpc>
                <a:spcPct val="150000"/>
              </a:lnSpc>
            </a:pPr>
            <a:r>
              <a:rPr lang="en-US" sz="2200" b="1" dirty="0"/>
              <a:t>Detection, Tracking and Tracing of Health Misinformation </a:t>
            </a:r>
            <a:r>
              <a:rPr lang="en-US" sz="2200" dirty="0"/>
              <a:t>is a system designed to help users verify health related claims found on social media. It analyzes text, images to identify whether the information is misleading or not. The system also traces where the misinformation likely originated from and tracks how it spreads across the platforms. </a:t>
            </a:r>
            <a:r>
              <a:rPr lang="en-US" sz="2200" dirty="0">
                <a:ea typeface="+mn-lt"/>
                <a:cs typeface="+mn-lt"/>
              </a:rPr>
              <a:t>In this presentation, we will explore problems and motivation, objectives, project scope and limitations.</a:t>
            </a:r>
            <a:endParaRPr lang="en-US" sz="2200" dirty="0"/>
          </a:p>
        </p:txBody>
      </p:sp>
      <p:sp>
        <p:nvSpPr>
          <p:cNvPr id="6" name="TextBox 5">
            <a:extLst>
              <a:ext uri="{FF2B5EF4-FFF2-40B4-BE49-F238E27FC236}">
                <a16:creationId xmlns:a16="http://schemas.microsoft.com/office/drawing/2014/main" id="{88A3024F-2B21-08D8-C226-4823411ED29E}"/>
              </a:ext>
            </a:extLst>
          </p:cNvPr>
          <p:cNvSpPr txBox="1"/>
          <p:nvPr/>
        </p:nvSpPr>
        <p:spPr>
          <a:xfrm>
            <a:off x="609600" y="1192245"/>
            <a:ext cx="11201400" cy="1015663"/>
          </a:xfrm>
          <a:prstGeom prst="rect">
            <a:avLst/>
          </a:prstGeom>
          <a:noFill/>
        </p:spPr>
        <p:txBody>
          <a:bodyPr wrap="square" rtlCol="0">
            <a:spAutoFit/>
          </a:bodyPr>
          <a:lstStyle/>
          <a:p>
            <a:r>
              <a:rPr lang="en-US" sz="6000" b="1" dirty="0">
                <a:latin typeface="+mj-lt"/>
              </a:rPr>
              <a:t>PROBLEM STATEMENT</a:t>
            </a:r>
          </a:p>
        </p:txBody>
      </p:sp>
      <p:sp>
        <p:nvSpPr>
          <p:cNvPr id="8" name="TextBox 7">
            <a:extLst>
              <a:ext uri="{FF2B5EF4-FFF2-40B4-BE49-F238E27FC236}">
                <a16:creationId xmlns:a16="http://schemas.microsoft.com/office/drawing/2014/main" id="{24BE6A46-D465-8849-05AA-4F10AF463432}"/>
              </a:ext>
            </a:extLst>
          </p:cNvPr>
          <p:cNvSpPr txBox="1"/>
          <p:nvPr/>
        </p:nvSpPr>
        <p:spPr>
          <a:xfrm>
            <a:off x="582567" y="2714020"/>
            <a:ext cx="11239499" cy="2709653"/>
          </a:xfrm>
          <a:prstGeom prst="rect">
            <a:avLst/>
          </a:prstGeom>
          <a:noFill/>
        </p:spPr>
        <p:txBody>
          <a:bodyPr wrap="square" lIns="91440" tIns="45720" rIns="91440" bIns="45720" rtlCol="0" anchor="t">
            <a:spAutoFit/>
          </a:bodyPr>
          <a:lstStyle/>
          <a:p>
            <a:pPr marL="457200" indent="-457200">
              <a:lnSpc>
                <a:spcPct val="200000"/>
              </a:lnSpc>
              <a:buFont typeface="Arial" panose="020B0604020202020204" pitchFamily="34" charset="0"/>
              <a:buChar char="•"/>
            </a:pPr>
            <a:r>
              <a:rPr lang="en-US" sz="2200" b="1"/>
              <a:t>Rapid circulation of false health misinformation on social media</a:t>
            </a:r>
          </a:p>
          <a:p>
            <a:pPr marL="457200" indent="-457200">
              <a:lnSpc>
                <a:spcPct val="200000"/>
              </a:lnSpc>
              <a:buFont typeface="Arial" panose="020B0604020202020204" pitchFamily="34" charset="0"/>
              <a:buChar char="•"/>
            </a:pPr>
            <a:r>
              <a:rPr lang="en-US" sz="2200" b="1"/>
              <a:t>Limited ability for individuals to verify authenticity of health related claims</a:t>
            </a:r>
          </a:p>
          <a:p>
            <a:pPr marL="457200" indent="-457200">
              <a:lnSpc>
                <a:spcPct val="200000"/>
              </a:lnSpc>
              <a:buFont typeface="Arial" panose="020B0604020202020204" pitchFamily="34" charset="0"/>
              <a:buChar char="•"/>
            </a:pPr>
            <a:r>
              <a:rPr lang="en-US" sz="2200" b="1"/>
              <a:t>Few tools that help understand where health claims came from</a:t>
            </a:r>
          </a:p>
          <a:p>
            <a:pPr marL="457200" indent="-457200">
              <a:lnSpc>
                <a:spcPct val="200000"/>
              </a:lnSpc>
              <a:buFont typeface="Arial" panose="020B0604020202020204" pitchFamily="34" charset="0"/>
              <a:buChar char="•"/>
            </a:pPr>
            <a:endParaRPr lang="en-US" sz="2200" b="1"/>
          </a:p>
        </p:txBody>
      </p:sp>
      <p:sp>
        <p:nvSpPr>
          <p:cNvPr id="15" name="TextBox 14">
            <a:extLst>
              <a:ext uri="{FF2B5EF4-FFF2-40B4-BE49-F238E27FC236}">
                <a16:creationId xmlns:a16="http://schemas.microsoft.com/office/drawing/2014/main" id="{BB199154-DF84-7E68-545F-1A9A2A4D6D77}"/>
              </a:ext>
            </a:extLst>
          </p:cNvPr>
          <p:cNvSpPr txBox="1"/>
          <p:nvPr/>
        </p:nvSpPr>
        <p:spPr>
          <a:xfrm>
            <a:off x="609600" y="6915001"/>
            <a:ext cx="10972800" cy="1015663"/>
          </a:xfrm>
          <a:prstGeom prst="rect">
            <a:avLst/>
          </a:prstGeom>
          <a:noFill/>
        </p:spPr>
        <p:txBody>
          <a:bodyPr wrap="square" rtlCol="0">
            <a:spAutoFit/>
          </a:bodyPr>
          <a:lstStyle/>
          <a:p>
            <a:r>
              <a:rPr lang="en-US" sz="6000" b="1" dirty="0">
                <a:latin typeface="+mj-lt"/>
              </a:rPr>
              <a:t>OBJECTIVES</a:t>
            </a:r>
            <a:endParaRPr lang="en-US" sz="8800" b="1" dirty="0">
              <a:latin typeface="+mj-lt"/>
            </a:endParaRPr>
          </a:p>
        </p:txBody>
      </p:sp>
      <p:sp>
        <p:nvSpPr>
          <p:cNvPr id="16" name="TextBox 15">
            <a:extLst>
              <a:ext uri="{FF2B5EF4-FFF2-40B4-BE49-F238E27FC236}">
                <a16:creationId xmlns:a16="http://schemas.microsoft.com/office/drawing/2014/main" id="{14840B43-2925-E03D-9D45-AE475D6FBEAB}"/>
              </a:ext>
            </a:extLst>
          </p:cNvPr>
          <p:cNvSpPr txBox="1"/>
          <p:nvPr/>
        </p:nvSpPr>
        <p:spPr>
          <a:xfrm>
            <a:off x="609599" y="8555318"/>
            <a:ext cx="10972801" cy="338676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dirty="0"/>
              <a:t>Detect misleading or false health related claims</a:t>
            </a:r>
          </a:p>
          <a:p>
            <a:pPr marL="342900" indent="-342900">
              <a:lnSpc>
                <a:spcPct val="200000"/>
              </a:lnSpc>
              <a:buFont typeface="Arial" panose="020B0604020202020204" pitchFamily="34" charset="0"/>
              <a:buChar char="•"/>
              <a:tabLst>
                <a:tab pos="4445635" algn="l"/>
              </a:tabLst>
            </a:pPr>
            <a:r>
              <a:rPr lang="en-US" sz="2200" b="1" dirty="0"/>
              <a:t>Extract claims from text, images</a:t>
            </a:r>
          </a:p>
          <a:p>
            <a:pPr marL="342900" indent="-342900">
              <a:lnSpc>
                <a:spcPct val="200000"/>
              </a:lnSpc>
              <a:buFont typeface="Arial" panose="020B0604020202020204" pitchFamily="34" charset="0"/>
              <a:buChar char="•"/>
              <a:tabLst>
                <a:tab pos="4445635" algn="l"/>
              </a:tabLst>
            </a:pPr>
            <a:r>
              <a:rPr lang="en-US" sz="2200" b="1" dirty="0"/>
              <a:t>Retrieve evidence from sources like WHO, </a:t>
            </a:r>
            <a:r>
              <a:rPr lang="en-US" sz="2200" b="1" dirty="0" err="1"/>
              <a:t>CoAID</a:t>
            </a:r>
            <a:r>
              <a:rPr lang="en-US" sz="2200" b="1" dirty="0"/>
              <a:t>, CDC</a:t>
            </a:r>
          </a:p>
          <a:p>
            <a:pPr marL="342900" indent="-342900">
              <a:lnSpc>
                <a:spcPct val="200000"/>
              </a:lnSpc>
              <a:buFont typeface="Arial" panose="020B0604020202020204" pitchFamily="34" charset="0"/>
              <a:buChar char="•"/>
              <a:tabLst>
                <a:tab pos="4445635" algn="l"/>
              </a:tabLst>
            </a:pPr>
            <a:r>
              <a:rPr lang="en-US" sz="2200" b="1" dirty="0"/>
              <a:t>Trace the likely origin of misinformation</a:t>
            </a:r>
          </a:p>
          <a:p>
            <a:pPr marL="342900" indent="-342900">
              <a:lnSpc>
                <a:spcPct val="200000"/>
              </a:lnSpc>
              <a:buFont typeface="Arial" panose="020B0604020202020204" pitchFamily="34" charset="0"/>
              <a:buChar char="•"/>
              <a:tabLst>
                <a:tab pos="4445635" algn="l"/>
              </a:tabLst>
            </a:pPr>
            <a:r>
              <a:rPr lang="en-US" sz="2200" b="1" dirty="0"/>
              <a:t>Track how the misinformation spreads online</a:t>
            </a:r>
          </a:p>
        </p:txBody>
      </p:sp>
    </p:spTree>
    <p:extLst>
      <p:ext uri="{BB962C8B-B14F-4D97-AF65-F5344CB8AC3E}">
        <p14:creationId xmlns:p14="http://schemas.microsoft.com/office/powerpoint/2010/main" val="3383966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D21A9-EE73-3905-ED90-B6B9794C828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8EE466-5974-9FFE-3D8C-D164968E1E8D}"/>
              </a:ext>
            </a:extLst>
          </p:cNvPr>
          <p:cNvSpPr txBox="1"/>
          <p:nvPr/>
        </p:nvSpPr>
        <p:spPr>
          <a:xfrm>
            <a:off x="609600" y="-4282433"/>
            <a:ext cx="11201400" cy="1015663"/>
          </a:xfrm>
          <a:prstGeom prst="rect">
            <a:avLst/>
          </a:prstGeom>
          <a:noFill/>
        </p:spPr>
        <p:txBody>
          <a:bodyPr wrap="square" rtlCol="0">
            <a:spAutoFit/>
          </a:bodyPr>
          <a:lstStyle/>
          <a:p>
            <a:r>
              <a:rPr lang="en-US" sz="6000" b="1" dirty="0">
                <a:latin typeface="+mj-lt"/>
              </a:rPr>
              <a:t>PROBLEM STATEMENT</a:t>
            </a:r>
          </a:p>
        </p:txBody>
      </p:sp>
      <p:sp>
        <p:nvSpPr>
          <p:cNvPr id="8" name="TextBox 7">
            <a:extLst>
              <a:ext uri="{FF2B5EF4-FFF2-40B4-BE49-F238E27FC236}">
                <a16:creationId xmlns:a16="http://schemas.microsoft.com/office/drawing/2014/main" id="{491BECE6-E091-4B2E-8140-DD06F5BE0E6E}"/>
              </a:ext>
            </a:extLst>
          </p:cNvPr>
          <p:cNvSpPr txBox="1"/>
          <p:nvPr/>
        </p:nvSpPr>
        <p:spPr>
          <a:xfrm>
            <a:off x="582567" y="-2760658"/>
            <a:ext cx="11239499" cy="2709653"/>
          </a:xfrm>
          <a:prstGeom prst="rect">
            <a:avLst/>
          </a:prstGeom>
          <a:noFill/>
        </p:spPr>
        <p:txBody>
          <a:bodyPr wrap="square" lIns="91440" tIns="45720" rIns="91440" bIns="45720" rtlCol="0" anchor="t">
            <a:spAutoFit/>
          </a:bodyPr>
          <a:lstStyle/>
          <a:p>
            <a:pPr marL="457200" indent="-457200">
              <a:lnSpc>
                <a:spcPct val="200000"/>
              </a:lnSpc>
              <a:buFont typeface="Arial" panose="020B0604020202020204" pitchFamily="34" charset="0"/>
              <a:buChar char="•"/>
            </a:pPr>
            <a:r>
              <a:rPr lang="en-US" sz="2200" b="1"/>
              <a:t>Rapid circulation of false health misinformation on social media</a:t>
            </a:r>
          </a:p>
          <a:p>
            <a:pPr marL="457200" indent="-457200">
              <a:lnSpc>
                <a:spcPct val="200000"/>
              </a:lnSpc>
              <a:buFont typeface="Arial" panose="020B0604020202020204" pitchFamily="34" charset="0"/>
              <a:buChar char="•"/>
            </a:pPr>
            <a:r>
              <a:rPr lang="en-US" sz="2200" b="1"/>
              <a:t>Limited ability for individuals to verify authenticity of health related claims</a:t>
            </a:r>
          </a:p>
          <a:p>
            <a:pPr marL="457200" indent="-457200">
              <a:lnSpc>
                <a:spcPct val="200000"/>
              </a:lnSpc>
              <a:buFont typeface="Arial" panose="020B0604020202020204" pitchFamily="34" charset="0"/>
              <a:buChar char="•"/>
            </a:pPr>
            <a:r>
              <a:rPr lang="en-US" sz="2200" b="1"/>
              <a:t>Few tools that help understand where health claims came from</a:t>
            </a:r>
          </a:p>
          <a:p>
            <a:pPr marL="457200" indent="-457200">
              <a:lnSpc>
                <a:spcPct val="200000"/>
              </a:lnSpc>
              <a:buFont typeface="Arial" panose="020B0604020202020204" pitchFamily="34" charset="0"/>
              <a:buChar char="•"/>
            </a:pPr>
            <a:endParaRPr lang="en-US" sz="2200" b="1"/>
          </a:p>
        </p:txBody>
      </p:sp>
      <p:sp>
        <p:nvSpPr>
          <p:cNvPr id="9" name="TextBox 8">
            <a:extLst>
              <a:ext uri="{FF2B5EF4-FFF2-40B4-BE49-F238E27FC236}">
                <a16:creationId xmlns:a16="http://schemas.microsoft.com/office/drawing/2014/main" id="{C83B0D44-3039-25F2-AFC0-49114D881216}"/>
              </a:ext>
            </a:extLst>
          </p:cNvPr>
          <p:cNvSpPr txBox="1"/>
          <p:nvPr/>
        </p:nvSpPr>
        <p:spPr>
          <a:xfrm>
            <a:off x="609600" y="1067709"/>
            <a:ext cx="9706707" cy="1015663"/>
          </a:xfrm>
          <a:prstGeom prst="rect">
            <a:avLst/>
          </a:prstGeom>
          <a:noFill/>
        </p:spPr>
        <p:txBody>
          <a:bodyPr wrap="square" rtlCol="0">
            <a:spAutoFit/>
          </a:bodyPr>
          <a:lstStyle/>
          <a:p>
            <a:r>
              <a:rPr lang="en-US" sz="6000" b="1" dirty="0">
                <a:latin typeface="+mj-lt"/>
              </a:rPr>
              <a:t>OBJECTIVES</a:t>
            </a:r>
            <a:endParaRPr lang="en-US" sz="8800" b="1" dirty="0">
              <a:latin typeface="+mj-lt"/>
            </a:endParaRPr>
          </a:p>
        </p:txBody>
      </p:sp>
      <p:sp>
        <p:nvSpPr>
          <p:cNvPr id="10" name="TextBox 9">
            <a:extLst>
              <a:ext uri="{FF2B5EF4-FFF2-40B4-BE49-F238E27FC236}">
                <a16:creationId xmlns:a16="http://schemas.microsoft.com/office/drawing/2014/main" id="{E4251AA4-73D7-84BB-5677-9039131DF140}"/>
              </a:ext>
            </a:extLst>
          </p:cNvPr>
          <p:cNvSpPr txBox="1"/>
          <p:nvPr/>
        </p:nvSpPr>
        <p:spPr>
          <a:xfrm>
            <a:off x="609599" y="2819401"/>
            <a:ext cx="10984897" cy="338676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dirty="0"/>
              <a:t>Detect misleading or false health related claims</a:t>
            </a:r>
          </a:p>
          <a:p>
            <a:pPr marL="342900" indent="-342900">
              <a:lnSpc>
                <a:spcPct val="200000"/>
              </a:lnSpc>
              <a:buFont typeface="Arial" panose="020B0604020202020204" pitchFamily="34" charset="0"/>
              <a:buChar char="•"/>
              <a:tabLst>
                <a:tab pos="4445635" algn="l"/>
              </a:tabLst>
            </a:pPr>
            <a:r>
              <a:rPr lang="en-US" sz="2200" b="1" dirty="0"/>
              <a:t>Extract claims from text, images</a:t>
            </a:r>
          </a:p>
          <a:p>
            <a:pPr marL="342900" indent="-342900">
              <a:lnSpc>
                <a:spcPct val="200000"/>
              </a:lnSpc>
              <a:buFont typeface="Arial" panose="020B0604020202020204" pitchFamily="34" charset="0"/>
              <a:buChar char="•"/>
              <a:tabLst>
                <a:tab pos="4445635" algn="l"/>
              </a:tabLst>
            </a:pPr>
            <a:r>
              <a:rPr lang="en-US" sz="2200" b="1" dirty="0"/>
              <a:t>Retrieve evidence from sources like WHO, </a:t>
            </a:r>
            <a:r>
              <a:rPr lang="en-US" sz="2200" b="1" dirty="0" err="1"/>
              <a:t>CoAID</a:t>
            </a:r>
            <a:r>
              <a:rPr lang="en-US" sz="2200" b="1" dirty="0"/>
              <a:t>, CDC</a:t>
            </a:r>
          </a:p>
          <a:p>
            <a:pPr marL="342900" indent="-342900">
              <a:lnSpc>
                <a:spcPct val="200000"/>
              </a:lnSpc>
              <a:buFont typeface="Arial" panose="020B0604020202020204" pitchFamily="34" charset="0"/>
              <a:buChar char="•"/>
              <a:tabLst>
                <a:tab pos="4445635" algn="l"/>
              </a:tabLst>
            </a:pPr>
            <a:r>
              <a:rPr lang="en-US" sz="2200" b="1" dirty="0"/>
              <a:t>Trace the likely origin of misinformation</a:t>
            </a:r>
          </a:p>
          <a:p>
            <a:pPr marL="342900" indent="-342900">
              <a:lnSpc>
                <a:spcPct val="200000"/>
              </a:lnSpc>
              <a:buFont typeface="Arial" panose="020B0604020202020204" pitchFamily="34" charset="0"/>
              <a:buChar char="•"/>
              <a:tabLst>
                <a:tab pos="4445635" algn="l"/>
              </a:tabLst>
            </a:pPr>
            <a:r>
              <a:rPr lang="en-US" sz="2200" b="1" dirty="0"/>
              <a:t>Track how the misinformation spreads online</a:t>
            </a:r>
          </a:p>
        </p:txBody>
      </p:sp>
      <p:sp>
        <p:nvSpPr>
          <p:cNvPr id="12" name="TextBox 11">
            <a:extLst>
              <a:ext uri="{FF2B5EF4-FFF2-40B4-BE49-F238E27FC236}">
                <a16:creationId xmlns:a16="http://schemas.microsoft.com/office/drawing/2014/main" id="{5727E1A4-6128-7695-B29D-679CD5F77AB2}"/>
              </a:ext>
            </a:extLst>
          </p:cNvPr>
          <p:cNvSpPr txBox="1"/>
          <p:nvPr/>
        </p:nvSpPr>
        <p:spPr>
          <a:xfrm>
            <a:off x="609600" y="6862245"/>
            <a:ext cx="10972800" cy="1015663"/>
          </a:xfrm>
          <a:prstGeom prst="rect">
            <a:avLst/>
          </a:prstGeom>
          <a:noFill/>
        </p:spPr>
        <p:txBody>
          <a:bodyPr wrap="square" lIns="91440" tIns="45720" rIns="91440" bIns="45720" rtlCol="0" anchor="t">
            <a:spAutoFit/>
          </a:bodyPr>
          <a:lstStyle/>
          <a:p>
            <a:r>
              <a:rPr lang="en-US" sz="6000" b="1">
                <a:latin typeface="+mj-lt"/>
              </a:rPr>
              <a:t>SCOPE</a:t>
            </a:r>
          </a:p>
        </p:txBody>
      </p:sp>
      <p:sp>
        <p:nvSpPr>
          <p:cNvPr id="15" name="TextBox 14">
            <a:extLst>
              <a:ext uri="{FF2B5EF4-FFF2-40B4-BE49-F238E27FC236}">
                <a16:creationId xmlns:a16="http://schemas.microsoft.com/office/drawing/2014/main" id="{E1E3F8BF-8A9B-9C17-F01B-D4DDE165BA15}"/>
              </a:ext>
            </a:extLst>
          </p:cNvPr>
          <p:cNvSpPr txBox="1"/>
          <p:nvPr/>
        </p:nvSpPr>
        <p:spPr>
          <a:xfrm>
            <a:off x="597504" y="8489363"/>
            <a:ext cx="10984896" cy="338676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a:t>Focus on health misinformation across social media posts</a:t>
            </a:r>
            <a:endParaRPr lang="en-US" sz="2200" b="1" dirty="0"/>
          </a:p>
          <a:p>
            <a:pPr marL="342900" indent="-342900">
              <a:lnSpc>
                <a:spcPct val="200000"/>
              </a:lnSpc>
              <a:buFont typeface="Arial" panose="020B0604020202020204" pitchFamily="34" charset="0"/>
              <a:buChar char="•"/>
              <a:tabLst>
                <a:tab pos="4445635" algn="l"/>
              </a:tabLst>
            </a:pPr>
            <a:r>
              <a:rPr lang="en-US" sz="2200" b="1"/>
              <a:t>Use a curated set of verified datasets for claim verification</a:t>
            </a:r>
            <a:endParaRPr lang="en-US" sz="2200" b="1" dirty="0"/>
          </a:p>
          <a:p>
            <a:pPr marL="342900" indent="-342900">
              <a:lnSpc>
                <a:spcPct val="200000"/>
              </a:lnSpc>
              <a:buFont typeface="Arial" panose="020B0604020202020204" pitchFamily="34" charset="0"/>
              <a:buChar char="•"/>
              <a:tabLst>
                <a:tab pos="4445635" algn="l"/>
              </a:tabLst>
            </a:pPr>
            <a:r>
              <a:rPr lang="en-US" sz="2200" b="1"/>
              <a:t>Provide results through mobile application interface</a:t>
            </a:r>
          </a:p>
          <a:p>
            <a:pPr marL="342900" indent="-342900">
              <a:lnSpc>
                <a:spcPct val="200000"/>
              </a:lnSpc>
              <a:buFont typeface="Arial" panose="020B0604020202020204" pitchFamily="34" charset="0"/>
              <a:buChar char="•"/>
              <a:tabLst>
                <a:tab pos="4445635" algn="l"/>
              </a:tabLst>
            </a:pPr>
            <a:r>
              <a:rPr lang="en-US" sz="2200" b="1"/>
              <a:t>Implement AI and OCR based detection</a:t>
            </a:r>
          </a:p>
          <a:p>
            <a:pPr marL="342900" indent="-342900">
              <a:lnSpc>
                <a:spcPct val="200000"/>
              </a:lnSpc>
              <a:buFont typeface="Arial" panose="020B0604020202020204" pitchFamily="34" charset="0"/>
              <a:buChar char="•"/>
              <a:tabLst>
                <a:tab pos="4445635" algn="l"/>
              </a:tabLst>
            </a:pPr>
            <a:endParaRPr lang="en-US" sz="2200" b="1"/>
          </a:p>
        </p:txBody>
      </p:sp>
    </p:spTree>
    <p:extLst>
      <p:ext uri="{BB962C8B-B14F-4D97-AF65-F5344CB8AC3E}">
        <p14:creationId xmlns:p14="http://schemas.microsoft.com/office/powerpoint/2010/main" val="34645585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0656-756D-5CB1-546F-FDA406A1D1D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33F4640-FD6C-EBD1-CD6D-37401DBDFDCD}"/>
              </a:ext>
            </a:extLst>
          </p:cNvPr>
          <p:cNvSpPr txBox="1"/>
          <p:nvPr/>
        </p:nvSpPr>
        <p:spPr>
          <a:xfrm>
            <a:off x="609600" y="1235167"/>
            <a:ext cx="10972800" cy="1015663"/>
          </a:xfrm>
          <a:prstGeom prst="rect">
            <a:avLst/>
          </a:prstGeom>
          <a:noFill/>
        </p:spPr>
        <p:txBody>
          <a:bodyPr wrap="square" lIns="91440" tIns="45720" rIns="91440" bIns="45720" rtlCol="0" anchor="t">
            <a:spAutoFit/>
          </a:bodyPr>
          <a:lstStyle/>
          <a:p>
            <a:r>
              <a:rPr lang="en-US" sz="6000" b="1" dirty="0">
                <a:latin typeface="+mj-lt"/>
              </a:rPr>
              <a:t>SCOPE</a:t>
            </a:r>
          </a:p>
        </p:txBody>
      </p:sp>
      <p:sp>
        <p:nvSpPr>
          <p:cNvPr id="10" name="TextBox 9">
            <a:extLst>
              <a:ext uri="{FF2B5EF4-FFF2-40B4-BE49-F238E27FC236}">
                <a16:creationId xmlns:a16="http://schemas.microsoft.com/office/drawing/2014/main" id="{DE94C89F-BBA6-295D-F36E-FD74778F36A9}"/>
              </a:ext>
            </a:extLst>
          </p:cNvPr>
          <p:cNvSpPr txBox="1"/>
          <p:nvPr/>
        </p:nvSpPr>
        <p:spPr>
          <a:xfrm>
            <a:off x="597504" y="2745055"/>
            <a:ext cx="10984896" cy="338676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dirty="0"/>
              <a:t>Focus on health misinformation across social media posts</a:t>
            </a:r>
          </a:p>
          <a:p>
            <a:pPr marL="342900" indent="-342900">
              <a:lnSpc>
                <a:spcPct val="200000"/>
              </a:lnSpc>
              <a:buFont typeface="Arial" panose="020B0604020202020204" pitchFamily="34" charset="0"/>
              <a:buChar char="•"/>
              <a:tabLst>
                <a:tab pos="4445635" algn="l"/>
              </a:tabLst>
            </a:pPr>
            <a:r>
              <a:rPr lang="en-US" sz="2200" b="1" dirty="0"/>
              <a:t>Use a curated set of verified datasets for claim verification</a:t>
            </a:r>
          </a:p>
          <a:p>
            <a:pPr marL="342900" indent="-342900">
              <a:lnSpc>
                <a:spcPct val="200000"/>
              </a:lnSpc>
              <a:buFont typeface="Arial" panose="020B0604020202020204" pitchFamily="34" charset="0"/>
              <a:buChar char="•"/>
              <a:tabLst>
                <a:tab pos="4445635" algn="l"/>
              </a:tabLst>
            </a:pPr>
            <a:r>
              <a:rPr lang="en-US" sz="2200" b="1" dirty="0"/>
              <a:t>Provide results through mobile application interface</a:t>
            </a:r>
          </a:p>
          <a:p>
            <a:pPr marL="342900" indent="-342900">
              <a:lnSpc>
                <a:spcPct val="200000"/>
              </a:lnSpc>
              <a:buFont typeface="Arial" panose="020B0604020202020204" pitchFamily="34" charset="0"/>
              <a:buChar char="•"/>
              <a:tabLst>
                <a:tab pos="4445635" algn="l"/>
              </a:tabLst>
            </a:pPr>
            <a:r>
              <a:rPr lang="en-US" sz="2200" b="1" dirty="0"/>
              <a:t>Implement AI and OCR based detection</a:t>
            </a:r>
          </a:p>
          <a:p>
            <a:pPr marL="342900" indent="-342900">
              <a:lnSpc>
                <a:spcPct val="200000"/>
              </a:lnSpc>
              <a:buFont typeface="Arial" panose="020B0604020202020204" pitchFamily="34" charset="0"/>
              <a:buChar char="•"/>
              <a:tabLst>
                <a:tab pos="4445635" algn="l"/>
              </a:tabLst>
            </a:pPr>
            <a:endParaRPr lang="en-US" sz="2200" b="1" dirty="0"/>
          </a:p>
        </p:txBody>
      </p:sp>
      <p:sp>
        <p:nvSpPr>
          <p:cNvPr id="3" name="TextBox 2">
            <a:extLst>
              <a:ext uri="{FF2B5EF4-FFF2-40B4-BE49-F238E27FC236}">
                <a16:creationId xmlns:a16="http://schemas.microsoft.com/office/drawing/2014/main" id="{094098F2-7236-7A10-55BF-0B0D8607FF3F}"/>
              </a:ext>
            </a:extLst>
          </p:cNvPr>
          <p:cNvSpPr txBox="1"/>
          <p:nvPr/>
        </p:nvSpPr>
        <p:spPr>
          <a:xfrm>
            <a:off x="493334" y="-4981399"/>
            <a:ext cx="9822973" cy="1015663"/>
          </a:xfrm>
          <a:prstGeom prst="rect">
            <a:avLst/>
          </a:prstGeom>
          <a:noFill/>
        </p:spPr>
        <p:txBody>
          <a:bodyPr wrap="square" rtlCol="0">
            <a:spAutoFit/>
          </a:bodyPr>
          <a:lstStyle/>
          <a:p>
            <a:r>
              <a:rPr lang="en-US" sz="6000" b="1" dirty="0">
                <a:latin typeface="+mj-lt"/>
              </a:rPr>
              <a:t>OBJECTIVES</a:t>
            </a:r>
            <a:endParaRPr lang="en-US" sz="8800" b="1" dirty="0">
              <a:latin typeface="+mj-lt"/>
            </a:endParaRPr>
          </a:p>
        </p:txBody>
      </p:sp>
      <p:sp>
        <p:nvSpPr>
          <p:cNvPr id="4" name="TextBox 3">
            <a:extLst>
              <a:ext uri="{FF2B5EF4-FFF2-40B4-BE49-F238E27FC236}">
                <a16:creationId xmlns:a16="http://schemas.microsoft.com/office/drawing/2014/main" id="{7011E3B2-A90B-4BCC-AFDA-947E2F6418F0}"/>
              </a:ext>
            </a:extLst>
          </p:cNvPr>
          <p:cNvSpPr txBox="1"/>
          <p:nvPr/>
        </p:nvSpPr>
        <p:spPr>
          <a:xfrm>
            <a:off x="495301" y="-3460840"/>
            <a:ext cx="11201398" cy="338676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dirty="0"/>
              <a:t>Detect misleading or false health related claims</a:t>
            </a:r>
          </a:p>
          <a:p>
            <a:pPr marL="342900" indent="-342900">
              <a:lnSpc>
                <a:spcPct val="200000"/>
              </a:lnSpc>
              <a:buFont typeface="Arial" panose="020B0604020202020204" pitchFamily="34" charset="0"/>
              <a:buChar char="•"/>
              <a:tabLst>
                <a:tab pos="4445635" algn="l"/>
              </a:tabLst>
            </a:pPr>
            <a:r>
              <a:rPr lang="en-US" sz="2200" b="1" dirty="0"/>
              <a:t>Extract claims from text, images</a:t>
            </a:r>
          </a:p>
          <a:p>
            <a:pPr marL="342900" indent="-342900">
              <a:lnSpc>
                <a:spcPct val="200000"/>
              </a:lnSpc>
              <a:buFont typeface="Arial" panose="020B0604020202020204" pitchFamily="34" charset="0"/>
              <a:buChar char="•"/>
              <a:tabLst>
                <a:tab pos="4445635" algn="l"/>
              </a:tabLst>
            </a:pPr>
            <a:r>
              <a:rPr lang="en-US" sz="2200" b="1" dirty="0"/>
              <a:t>Retrieve evidence from sources like WHO, </a:t>
            </a:r>
            <a:r>
              <a:rPr lang="en-US" sz="2200" b="1" dirty="0" err="1"/>
              <a:t>CoAID</a:t>
            </a:r>
            <a:r>
              <a:rPr lang="en-US" sz="2200" b="1" dirty="0"/>
              <a:t>, CDC</a:t>
            </a:r>
          </a:p>
          <a:p>
            <a:pPr marL="342900" indent="-342900">
              <a:lnSpc>
                <a:spcPct val="200000"/>
              </a:lnSpc>
              <a:buFont typeface="Arial" panose="020B0604020202020204" pitchFamily="34" charset="0"/>
              <a:buChar char="•"/>
              <a:tabLst>
                <a:tab pos="4445635" algn="l"/>
              </a:tabLst>
            </a:pPr>
            <a:r>
              <a:rPr lang="en-US" sz="2200" b="1" dirty="0"/>
              <a:t>Trace the likely origin of misinformation</a:t>
            </a:r>
          </a:p>
          <a:p>
            <a:pPr marL="342900" indent="-342900">
              <a:lnSpc>
                <a:spcPct val="200000"/>
              </a:lnSpc>
              <a:buFont typeface="Arial" panose="020B0604020202020204" pitchFamily="34" charset="0"/>
              <a:buChar char="•"/>
              <a:tabLst>
                <a:tab pos="4445635" algn="l"/>
              </a:tabLst>
            </a:pPr>
            <a:r>
              <a:rPr lang="en-US" sz="2200" b="1" dirty="0"/>
              <a:t>Track how the misinformation spreads online</a:t>
            </a:r>
          </a:p>
        </p:txBody>
      </p:sp>
      <p:sp>
        <p:nvSpPr>
          <p:cNvPr id="5" name="TextBox 4">
            <a:extLst>
              <a:ext uri="{FF2B5EF4-FFF2-40B4-BE49-F238E27FC236}">
                <a16:creationId xmlns:a16="http://schemas.microsoft.com/office/drawing/2014/main" id="{1504E940-35BB-0B21-7F78-3DDEFACAE024}"/>
              </a:ext>
            </a:extLst>
          </p:cNvPr>
          <p:cNvSpPr txBox="1"/>
          <p:nvPr/>
        </p:nvSpPr>
        <p:spPr>
          <a:xfrm>
            <a:off x="609600" y="6885691"/>
            <a:ext cx="10972800" cy="1015663"/>
          </a:xfrm>
          <a:prstGeom prst="rect">
            <a:avLst/>
          </a:prstGeom>
          <a:noFill/>
        </p:spPr>
        <p:txBody>
          <a:bodyPr wrap="square" lIns="91440" tIns="45720" rIns="91440" bIns="45720" rtlCol="0" anchor="t">
            <a:spAutoFit/>
          </a:bodyPr>
          <a:lstStyle/>
          <a:p>
            <a:r>
              <a:rPr lang="en-US" sz="6000" b="1" dirty="0">
                <a:latin typeface="+mj-lt"/>
              </a:rPr>
              <a:t>LIMITATION</a:t>
            </a:r>
          </a:p>
        </p:txBody>
      </p:sp>
      <p:sp>
        <p:nvSpPr>
          <p:cNvPr id="7" name="TextBox 6">
            <a:extLst>
              <a:ext uri="{FF2B5EF4-FFF2-40B4-BE49-F238E27FC236}">
                <a16:creationId xmlns:a16="http://schemas.microsoft.com/office/drawing/2014/main" id="{E4833ECB-A728-FA10-C521-B7EE0F7A8735}"/>
              </a:ext>
            </a:extLst>
          </p:cNvPr>
          <p:cNvSpPr txBox="1"/>
          <p:nvPr/>
        </p:nvSpPr>
        <p:spPr>
          <a:xfrm>
            <a:off x="597504" y="8395579"/>
            <a:ext cx="10984896" cy="2709653"/>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a:t>Accuracy depends on availability and quality of  reliable evidence online</a:t>
            </a:r>
          </a:p>
          <a:p>
            <a:pPr marL="342900" indent="-342900">
              <a:lnSpc>
                <a:spcPct val="200000"/>
              </a:lnSpc>
              <a:buFont typeface="Arial" panose="020B0604020202020204" pitchFamily="34" charset="0"/>
              <a:buChar char="•"/>
              <a:tabLst>
                <a:tab pos="4445635" algn="l"/>
              </a:tabLst>
            </a:pPr>
            <a:r>
              <a:rPr lang="en-US" sz="2200" b="1"/>
              <a:t>Cannot verify claims in unsupported languages</a:t>
            </a:r>
          </a:p>
          <a:p>
            <a:pPr marL="342900" indent="-342900">
              <a:lnSpc>
                <a:spcPct val="200000"/>
              </a:lnSpc>
              <a:buFont typeface="Arial" panose="020B0604020202020204" pitchFamily="34" charset="0"/>
              <a:buChar char="•"/>
              <a:tabLst>
                <a:tab pos="4445635" algn="l"/>
              </a:tabLst>
            </a:pPr>
            <a:r>
              <a:rPr lang="en-US" sz="2200" b="1"/>
              <a:t>Real time tracking limited by social media platform restrictions</a:t>
            </a:r>
          </a:p>
          <a:p>
            <a:pPr marL="342900" indent="-342900">
              <a:lnSpc>
                <a:spcPct val="200000"/>
              </a:lnSpc>
              <a:buFont typeface="Arial" panose="020B0604020202020204" pitchFamily="34" charset="0"/>
              <a:buChar char="•"/>
              <a:tabLst>
                <a:tab pos="4445635" algn="l"/>
              </a:tabLst>
            </a:pPr>
            <a:r>
              <a:rPr lang="en-US" sz="2200" b="1"/>
              <a:t>Provides reliability of information only; not medical advice</a:t>
            </a:r>
          </a:p>
        </p:txBody>
      </p:sp>
    </p:spTree>
    <p:extLst>
      <p:ext uri="{BB962C8B-B14F-4D97-AF65-F5344CB8AC3E}">
        <p14:creationId xmlns:p14="http://schemas.microsoft.com/office/powerpoint/2010/main" val="39662978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A428C-0539-EA62-7A4D-1C661A19ACB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9C5DBF1-7F5C-8A1F-C087-6748D7AD677A}"/>
              </a:ext>
            </a:extLst>
          </p:cNvPr>
          <p:cNvSpPr txBox="1"/>
          <p:nvPr/>
        </p:nvSpPr>
        <p:spPr>
          <a:xfrm>
            <a:off x="609600" y="1235167"/>
            <a:ext cx="10972800" cy="1015663"/>
          </a:xfrm>
          <a:prstGeom prst="rect">
            <a:avLst/>
          </a:prstGeom>
          <a:noFill/>
        </p:spPr>
        <p:txBody>
          <a:bodyPr wrap="square" lIns="91440" tIns="45720" rIns="91440" bIns="45720" rtlCol="0" anchor="t">
            <a:spAutoFit/>
          </a:bodyPr>
          <a:lstStyle/>
          <a:p>
            <a:r>
              <a:rPr lang="en-US" sz="6000" b="1" dirty="0">
                <a:latin typeface="+mj-lt"/>
              </a:rPr>
              <a:t>LIMITATION</a:t>
            </a:r>
          </a:p>
        </p:txBody>
      </p:sp>
      <p:sp>
        <p:nvSpPr>
          <p:cNvPr id="10" name="TextBox 9">
            <a:extLst>
              <a:ext uri="{FF2B5EF4-FFF2-40B4-BE49-F238E27FC236}">
                <a16:creationId xmlns:a16="http://schemas.microsoft.com/office/drawing/2014/main" id="{45433F80-A7EE-30B6-BE6C-571312D81FC7}"/>
              </a:ext>
            </a:extLst>
          </p:cNvPr>
          <p:cNvSpPr txBox="1"/>
          <p:nvPr/>
        </p:nvSpPr>
        <p:spPr>
          <a:xfrm>
            <a:off x="597504" y="2745055"/>
            <a:ext cx="10984896" cy="2709653"/>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a:t>Accuracy depends on availability and quality of  reliable evidence online</a:t>
            </a:r>
          </a:p>
          <a:p>
            <a:pPr marL="342900" indent="-342900">
              <a:lnSpc>
                <a:spcPct val="200000"/>
              </a:lnSpc>
              <a:buFont typeface="Arial" panose="020B0604020202020204" pitchFamily="34" charset="0"/>
              <a:buChar char="•"/>
              <a:tabLst>
                <a:tab pos="4445635" algn="l"/>
              </a:tabLst>
            </a:pPr>
            <a:r>
              <a:rPr lang="en-US" sz="2200" b="1"/>
              <a:t>Cannot verify claims in unsupported languages</a:t>
            </a:r>
          </a:p>
          <a:p>
            <a:pPr marL="342900" indent="-342900">
              <a:lnSpc>
                <a:spcPct val="200000"/>
              </a:lnSpc>
              <a:buFont typeface="Arial" panose="020B0604020202020204" pitchFamily="34" charset="0"/>
              <a:buChar char="•"/>
              <a:tabLst>
                <a:tab pos="4445635" algn="l"/>
              </a:tabLst>
            </a:pPr>
            <a:r>
              <a:rPr lang="en-US" sz="2200" b="1"/>
              <a:t>Real time tracking limited by social media platform restrictions</a:t>
            </a:r>
          </a:p>
          <a:p>
            <a:pPr marL="342900" indent="-342900">
              <a:lnSpc>
                <a:spcPct val="200000"/>
              </a:lnSpc>
              <a:buFont typeface="Arial" panose="020B0604020202020204" pitchFamily="34" charset="0"/>
              <a:buChar char="•"/>
              <a:tabLst>
                <a:tab pos="4445635" algn="l"/>
              </a:tabLst>
            </a:pPr>
            <a:r>
              <a:rPr lang="en-US" sz="2200" b="1"/>
              <a:t>Provides reliability of information only; not medical advice</a:t>
            </a:r>
          </a:p>
        </p:txBody>
      </p:sp>
      <p:sp>
        <p:nvSpPr>
          <p:cNvPr id="2" name="!!overview">
            <a:extLst>
              <a:ext uri="{FF2B5EF4-FFF2-40B4-BE49-F238E27FC236}">
                <a16:creationId xmlns:a16="http://schemas.microsoft.com/office/drawing/2014/main" id="{68ECCF8E-D2DF-0646-1A7A-86621D5E8D87}"/>
              </a:ext>
            </a:extLst>
          </p:cNvPr>
          <p:cNvSpPr txBox="1"/>
          <p:nvPr/>
        </p:nvSpPr>
        <p:spPr>
          <a:xfrm>
            <a:off x="13176749" y="2644170"/>
            <a:ext cx="10972800" cy="1569660"/>
          </a:xfrm>
          <a:prstGeom prst="rect">
            <a:avLst/>
          </a:prstGeom>
          <a:noFill/>
        </p:spPr>
        <p:txBody>
          <a:bodyPr wrap="square">
            <a:spAutoFit/>
          </a:bodyPr>
          <a:lstStyle/>
          <a:p>
            <a:pPr algn="ctr"/>
            <a:r>
              <a:rPr lang="en-US" sz="9600" b="1">
                <a:latin typeface="+mj-lt"/>
              </a:rPr>
              <a:t>METHODOLOGY</a:t>
            </a:r>
          </a:p>
        </p:txBody>
      </p:sp>
      <p:sp>
        <p:nvSpPr>
          <p:cNvPr id="5" name="TextBox 4">
            <a:extLst>
              <a:ext uri="{FF2B5EF4-FFF2-40B4-BE49-F238E27FC236}">
                <a16:creationId xmlns:a16="http://schemas.microsoft.com/office/drawing/2014/main" id="{CCF98D34-8E34-351E-4AA7-DDCB0306DFC0}"/>
              </a:ext>
            </a:extLst>
          </p:cNvPr>
          <p:cNvSpPr txBox="1"/>
          <p:nvPr/>
        </p:nvSpPr>
        <p:spPr>
          <a:xfrm>
            <a:off x="609600" y="-4274685"/>
            <a:ext cx="10972800" cy="1015663"/>
          </a:xfrm>
          <a:prstGeom prst="rect">
            <a:avLst/>
          </a:prstGeom>
          <a:noFill/>
        </p:spPr>
        <p:txBody>
          <a:bodyPr wrap="square" lIns="91440" tIns="45720" rIns="91440" bIns="45720" rtlCol="0" anchor="t">
            <a:spAutoFit/>
          </a:bodyPr>
          <a:lstStyle/>
          <a:p>
            <a:r>
              <a:rPr lang="en-US" sz="6000" b="1" dirty="0">
                <a:latin typeface="+mj-lt"/>
              </a:rPr>
              <a:t>SCOPE</a:t>
            </a:r>
          </a:p>
        </p:txBody>
      </p:sp>
      <p:sp>
        <p:nvSpPr>
          <p:cNvPr id="6" name="TextBox 5">
            <a:extLst>
              <a:ext uri="{FF2B5EF4-FFF2-40B4-BE49-F238E27FC236}">
                <a16:creationId xmlns:a16="http://schemas.microsoft.com/office/drawing/2014/main" id="{23BDBCE0-0F18-61EC-2CD8-8A0BAA55D1D8}"/>
              </a:ext>
            </a:extLst>
          </p:cNvPr>
          <p:cNvSpPr txBox="1"/>
          <p:nvPr/>
        </p:nvSpPr>
        <p:spPr>
          <a:xfrm>
            <a:off x="597504" y="-2764797"/>
            <a:ext cx="10984896" cy="2709653"/>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dirty="0"/>
              <a:t>Focus on health misinformation across social media posts</a:t>
            </a:r>
          </a:p>
          <a:p>
            <a:pPr marL="342900" indent="-342900">
              <a:lnSpc>
                <a:spcPct val="200000"/>
              </a:lnSpc>
              <a:buFont typeface="Arial" panose="020B0604020202020204" pitchFamily="34" charset="0"/>
              <a:buChar char="•"/>
              <a:tabLst>
                <a:tab pos="4445635" algn="l"/>
              </a:tabLst>
            </a:pPr>
            <a:r>
              <a:rPr lang="en-US" sz="2200" b="1" dirty="0"/>
              <a:t>Use a curated set of verified datasets for claim verification</a:t>
            </a:r>
          </a:p>
          <a:p>
            <a:pPr marL="342900" indent="-342900">
              <a:lnSpc>
                <a:spcPct val="200000"/>
              </a:lnSpc>
              <a:buFont typeface="Arial" panose="020B0604020202020204" pitchFamily="34" charset="0"/>
              <a:buChar char="•"/>
              <a:tabLst>
                <a:tab pos="4445635" algn="l"/>
              </a:tabLst>
            </a:pPr>
            <a:r>
              <a:rPr lang="en-US" sz="2200" b="1" dirty="0"/>
              <a:t>Provide results through mobile application interface</a:t>
            </a:r>
          </a:p>
          <a:p>
            <a:pPr marL="342900" indent="-342900">
              <a:lnSpc>
                <a:spcPct val="200000"/>
              </a:lnSpc>
              <a:buFont typeface="Arial" panose="020B0604020202020204" pitchFamily="34" charset="0"/>
              <a:buChar char="•"/>
              <a:tabLst>
                <a:tab pos="4445635" algn="l"/>
              </a:tabLst>
            </a:pPr>
            <a:r>
              <a:rPr lang="en-US" sz="2200" b="1" dirty="0"/>
              <a:t>Implement AI and OCR based detection</a:t>
            </a:r>
          </a:p>
        </p:txBody>
      </p:sp>
    </p:spTree>
    <p:extLst>
      <p:ext uri="{BB962C8B-B14F-4D97-AF65-F5344CB8AC3E}">
        <p14:creationId xmlns:p14="http://schemas.microsoft.com/office/powerpoint/2010/main" val="31523114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erview">
            <a:extLst>
              <a:ext uri="{FF2B5EF4-FFF2-40B4-BE49-F238E27FC236}">
                <a16:creationId xmlns:a16="http://schemas.microsoft.com/office/drawing/2014/main" id="{DB7A20B3-69DB-40A2-9B57-356D985FAE14}"/>
              </a:ext>
            </a:extLst>
          </p:cNvPr>
          <p:cNvSpPr txBox="1"/>
          <p:nvPr/>
        </p:nvSpPr>
        <p:spPr>
          <a:xfrm>
            <a:off x="609600" y="2644170"/>
            <a:ext cx="11087100" cy="1569660"/>
          </a:xfrm>
          <a:prstGeom prst="rect">
            <a:avLst/>
          </a:prstGeom>
          <a:noFill/>
        </p:spPr>
        <p:txBody>
          <a:bodyPr wrap="square">
            <a:spAutoFit/>
          </a:bodyPr>
          <a:lstStyle/>
          <a:p>
            <a:pPr algn="ctr"/>
            <a:r>
              <a:rPr lang="en-US" sz="9600" b="1" dirty="0">
                <a:latin typeface="+mj-lt"/>
              </a:rPr>
              <a:t>METHODOLOGY</a:t>
            </a:r>
          </a:p>
        </p:txBody>
      </p:sp>
      <p:sp>
        <p:nvSpPr>
          <p:cNvPr id="7" name="!!overview">
            <a:extLst>
              <a:ext uri="{FF2B5EF4-FFF2-40B4-BE49-F238E27FC236}">
                <a16:creationId xmlns:a16="http://schemas.microsoft.com/office/drawing/2014/main" id="{1F040DFE-317C-2B2D-FF78-57E3E48B6FD2}"/>
              </a:ext>
            </a:extLst>
          </p:cNvPr>
          <p:cNvSpPr txBox="1"/>
          <p:nvPr/>
        </p:nvSpPr>
        <p:spPr>
          <a:xfrm>
            <a:off x="8714618" y="6899131"/>
            <a:ext cx="2887072" cy="1446550"/>
          </a:xfrm>
          <a:prstGeom prst="rect">
            <a:avLst/>
          </a:prstGeom>
          <a:noFill/>
        </p:spPr>
        <p:txBody>
          <a:bodyPr wrap="square" rtlCol="0">
            <a:spAutoFit/>
          </a:bodyPr>
          <a:lstStyle/>
          <a:p>
            <a:pPr algn="ctr"/>
            <a:r>
              <a:rPr lang="en-US" sz="8800" b="1" dirty="0">
                <a:latin typeface="+mj-lt"/>
              </a:rPr>
              <a:t>SDLC</a:t>
            </a:r>
          </a:p>
        </p:txBody>
      </p:sp>
      <p:sp>
        <p:nvSpPr>
          <p:cNvPr id="9" name="TextBox 8">
            <a:extLst>
              <a:ext uri="{FF2B5EF4-FFF2-40B4-BE49-F238E27FC236}">
                <a16:creationId xmlns:a16="http://schemas.microsoft.com/office/drawing/2014/main" id="{3612E196-2474-5B05-9948-54718EC32DCC}"/>
              </a:ext>
            </a:extLst>
          </p:cNvPr>
          <p:cNvSpPr txBox="1"/>
          <p:nvPr/>
        </p:nvSpPr>
        <p:spPr>
          <a:xfrm>
            <a:off x="609600" y="7412422"/>
            <a:ext cx="4026554" cy="5755422"/>
          </a:xfrm>
          <a:prstGeom prst="rect">
            <a:avLst/>
          </a:prstGeom>
          <a:noFill/>
        </p:spPr>
        <p:txBody>
          <a:bodyPr wrap="square" rtlCol="0">
            <a:spAutoFit/>
          </a:bodyPr>
          <a:lstStyle>
            <a:defPPr>
              <a:defRPr lang="en-US"/>
            </a:defPPr>
            <a:lvl1pPr>
              <a:buFont typeface="Arial" panose="020B0604020202020204" pitchFamily="34" charset="0"/>
              <a:buChar char="•"/>
              <a:defRPr b="0" i="0">
                <a:solidFill>
                  <a:srgbClr val="374151"/>
                </a:solidFill>
                <a:effectLst/>
              </a:defRPr>
            </a:lvl1pPr>
          </a:lstStyle>
          <a:p>
            <a:pPr>
              <a:buNone/>
            </a:pPr>
            <a:r>
              <a:rPr lang="en-US" sz="1600" dirty="0"/>
              <a:t>Incremental Model Overview:</a:t>
            </a:r>
          </a:p>
          <a:p>
            <a:pPr>
              <a:buNone/>
            </a:pPr>
            <a:endParaRPr lang="en-US" sz="1600" dirty="0"/>
          </a:p>
          <a:p>
            <a:pPr indent="-285750"/>
            <a:r>
              <a:rPr lang="en-US" sz="1600" dirty="0"/>
              <a:t>Approach involves breaking down development into smaller increments.</a:t>
            </a:r>
          </a:p>
          <a:p>
            <a:pPr indent="-285750"/>
            <a:r>
              <a:rPr lang="en-US" sz="1600" dirty="0"/>
              <a:t>Phases: Requirement Analysis, Design, Implementation and Testing</a:t>
            </a:r>
          </a:p>
          <a:p>
            <a:pPr>
              <a:buNone/>
            </a:pPr>
            <a:endParaRPr lang="en-US" sz="1600" dirty="0"/>
          </a:p>
          <a:p>
            <a:pPr>
              <a:buNone/>
            </a:pPr>
            <a:r>
              <a:rPr lang="en-US" sz="1600" dirty="0"/>
              <a:t>First Increment: Dataset gathering and UI Design</a:t>
            </a:r>
          </a:p>
          <a:p>
            <a:pPr indent="-285750"/>
            <a:r>
              <a:rPr lang="en-US" sz="1600" dirty="0"/>
              <a:t>Dataset gathering using platform like Kaggle </a:t>
            </a:r>
          </a:p>
          <a:p>
            <a:pPr indent="-285750"/>
            <a:r>
              <a:rPr lang="en-US" sz="1600" dirty="0"/>
              <a:t>Dataset collected to train model was 'Job Recommendation based on JD' from Kaggle</a:t>
            </a:r>
          </a:p>
          <a:p>
            <a:pPr indent="-285750"/>
            <a:r>
              <a:rPr lang="en-US" sz="1600" dirty="0"/>
              <a:t>UI design groundwork using Figma</a:t>
            </a:r>
          </a:p>
          <a:p>
            <a:pPr>
              <a:buNone/>
            </a:pPr>
            <a:endParaRPr lang="en-US" sz="1600" dirty="0"/>
          </a:p>
          <a:p>
            <a:pPr>
              <a:buNone/>
            </a:pPr>
            <a:r>
              <a:rPr lang="en-US" sz="1600" dirty="0"/>
              <a:t>Second Increment: Model Training and User Authentication </a:t>
            </a:r>
          </a:p>
          <a:p>
            <a:pPr marL="285750" indent="-285750"/>
            <a:r>
              <a:rPr lang="en-US" sz="1600" dirty="0"/>
              <a:t>Model trained using attributes such as skills, industry and domain knowledge.</a:t>
            </a:r>
          </a:p>
          <a:p>
            <a:pPr marL="285750" indent="-285750"/>
            <a:r>
              <a:rPr lang="en-US" sz="1600" dirty="0"/>
              <a:t>User Authentication and Authorization is integrated by creating signup/login page</a:t>
            </a:r>
          </a:p>
          <a:p>
            <a:pPr>
              <a:buNone/>
            </a:pPr>
            <a:endParaRPr lang="en-US" sz="1600" dirty="0"/>
          </a:p>
        </p:txBody>
      </p:sp>
      <p:pic>
        <p:nvPicPr>
          <p:cNvPr id="10" name="Picture 9" descr="A screenshot of a computer screen&#10;&#10;AI-generated content may be incorrect.">
            <a:extLst>
              <a:ext uri="{FF2B5EF4-FFF2-40B4-BE49-F238E27FC236}">
                <a16:creationId xmlns:a16="http://schemas.microsoft.com/office/drawing/2014/main" id="{2C93E941-D36B-34AE-7215-678E9BC95285}"/>
              </a:ext>
            </a:extLst>
          </p:cNvPr>
          <p:cNvPicPr>
            <a:picLocks noChangeAspect="1"/>
          </p:cNvPicPr>
          <p:nvPr/>
        </p:nvPicPr>
        <p:blipFill>
          <a:blip r:embed="rId2"/>
          <a:stretch>
            <a:fillRect/>
          </a:stretch>
        </p:blipFill>
        <p:spPr>
          <a:xfrm>
            <a:off x="5232779" y="8255415"/>
            <a:ext cx="6349621" cy="4622393"/>
          </a:xfrm>
          <a:prstGeom prst="rect">
            <a:avLst/>
          </a:prstGeom>
        </p:spPr>
      </p:pic>
      <p:sp>
        <p:nvSpPr>
          <p:cNvPr id="13" name="TextBox 12">
            <a:extLst>
              <a:ext uri="{FF2B5EF4-FFF2-40B4-BE49-F238E27FC236}">
                <a16:creationId xmlns:a16="http://schemas.microsoft.com/office/drawing/2014/main" id="{B2B1D77F-57CF-4306-2F7F-707F31C85350}"/>
              </a:ext>
            </a:extLst>
          </p:cNvPr>
          <p:cNvSpPr txBox="1"/>
          <p:nvPr/>
        </p:nvSpPr>
        <p:spPr>
          <a:xfrm>
            <a:off x="-11019706" y="1235167"/>
            <a:ext cx="10972800" cy="1015663"/>
          </a:xfrm>
          <a:prstGeom prst="rect">
            <a:avLst/>
          </a:prstGeom>
          <a:noFill/>
        </p:spPr>
        <p:txBody>
          <a:bodyPr wrap="square" lIns="91440" tIns="45720" rIns="91440" bIns="45720" rtlCol="0" anchor="t">
            <a:spAutoFit/>
          </a:bodyPr>
          <a:lstStyle/>
          <a:p>
            <a:r>
              <a:rPr lang="en-US" sz="6000" b="1" dirty="0">
                <a:latin typeface="+mj-lt"/>
              </a:rPr>
              <a:t>LIMITATION</a:t>
            </a:r>
          </a:p>
        </p:txBody>
      </p:sp>
      <p:sp>
        <p:nvSpPr>
          <p:cNvPr id="14" name="TextBox 13">
            <a:extLst>
              <a:ext uri="{FF2B5EF4-FFF2-40B4-BE49-F238E27FC236}">
                <a16:creationId xmlns:a16="http://schemas.microsoft.com/office/drawing/2014/main" id="{21905086-6CBD-F020-554E-6982DAC041EC}"/>
              </a:ext>
            </a:extLst>
          </p:cNvPr>
          <p:cNvSpPr txBox="1"/>
          <p:nvPr/>
        </p:nvSpPr>
        <p:spPr>
          <a:xfrm>
            <a:off x="-11031802" y="2745055"/>
            <a:ext cx="10984896" cy="2709653"/>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tabLst>
                <a:tab pos="4445635" algn="l"/>
              </a:tabLst>
            </a:pPr>
            <a:r>
              <a:rPr lang="en-US" sz="2200" b="1"/>
              <a:t>Accuracy depends on availability and quality of  reliable evidence online</a:t>
            </a:r>
          </a:p>
          <a:p>
            <a:pPr marL="342900" indent="-342900">
              <a:lnSpc>
                <a:spcPct val="200000"/>
              </a:lnSpc>
              <a:buFont typeface="Arial" panose="020B0604020202020204" pitchFamily="34" charset="0"/>
              <a:buChar char="•"/>
              <a:tabLst>
                <a:tab pos="4445635" algn="l"/>
              </a:tabLst>
            </a:pPr>
            <a:r>
              <a:rPr lang="en-US" sz="2200" b="1"/>
              <a:t>Cannot verify claims in unsupported languages</a:t>
            </a:r>
          </a:p>
          <a:p>
            <a:pPr marL="342900" indent="-342900">
              <a:lnSpc>
                <a:spcPct val="200000"/>
              </a:lnSpc>
              <a:buFont typeface="Arial" panose="020B0604020202020204" pitchFamily="34" charset="0"/>
              <a:buChar char="•"/>
              <a:tabLst>
                <a:tab pos="4445635" algn="l"/>
              </a:tabLst>
            </a:pPr>
            <a:r>
              <a:rPr lang="en-US" sz="2200" b="1"/>
              <a:t>Real time tracking limited by social media platform restrictions</a:t>
            </a:r>
          </a:p>
          <a:p>
            <a:pPr marL="342900" indent="-342900">
              <a:lnSpc>
                <a:spcPct val="200000"/>
              </a:lnSpc>
              <a:buFont typeface="Arial" panose="020B0604020202020204" pitchFamily="34" charset="0"/>
              <a:buChar char="•"/>
              <a:tabLst>
                <a:tab pos="4445635" algn="l"/>
              </a:tabLst>
            </a:pPr>
            <a:r>
              <a:rPr lang="en-US" sz="2200" b="1"/>
              <a:t>Provides reliability of information only; not medical advice</a:t>
            </a:r>
          </a:p>
        </p:txBody>
      </p:sp>
    </p:spTree>
    <p:extLst>
      <p:ext uri="{BB962C8B-B14F-4D97-AF65-F5344CB8AC3E}">
        <p14:creationId xmlns:p14="http://schemas.microsoft.com/office/powerpoint/2010/main" val="16743404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C4708-F71A-0A43-E8C5-2D868155974B}"/>
            </a:ext>
          </a:extLst>
        </p:cNvPr>
        <p:cNvGrpSpPr/>
        <p:nvPr/>
      </p:nvGrpSpPr>
      <p:grpSpPr>
        <a:xfrm>
          <a:off x="0" y="0"/>
          <a:ext cx="0" cy="0"/>
          <a:chOff x="0" y="0"/>
          <a:chExt cx="0" cy="0"/>
        </a:xfrm>
      </p:grpSpPr>
      <p:sp>
        <p:nvSpPr>
          <p:cNvPr id="8" name="!!overview">
            <a:extLst>
              <a:ext uri="{FF2B5EF4-FFF2-40B4-BE49-F238E27FC236}">
                <a16:creationId xmlns:a16="http://schemas.microsoft.com/office/drawing/2014/main" id="{4431848B-E883-95DE-5090-0FBE5A6FD2FA}"/>
              </a:ext>
            </a:extLst>
          </p:cNvPr>
          <p:cNvSpPr txBox="1"/>
          <p:nvPr/>
        </p:nvSpPr>
        <p:spPr>
          <a:xfrm>
            <a:off x="609600" y="-4030950"/>
            <a:ext cx="11087100" cy="1569660"/>
          </a:xfrm>
          <a:prstGeom prst="rect">
            <a:avLst/>
          </a:prstGeom>
          <a:noFill/>
        </p:spPr>
        <p:txBody>
          <a:bodyPr wrap="square">
            <a:spAutoFit/>
          </a:bodyPr>
          <a:lstStyle/>
          <a:p>
            <a:pPr algn="ctr"/>
            <a:r>
              <a:rPr lang="en-US" sz="9600" b="1" dirty="0">
                <a:latin typeface="+mj-lt"/>
              </a:rPr>
              <a:t>METHODOLOGY</a:t>
            </a:r>
          </a:p>
        </p:txBody>
      </p:sp>
      <p:sp>
        <p:nvSpPr>
          <p:cNvPr id="7" name="!!overview">
            <a:extLst>
              <a:ext uri="{FF2B5EF4-FFF2-40B4-BE49-F238E27FC236}">
                <a16:creationId xmlns:a16="http://schemas.microsoft.com/office/drawing/2014/main" id="{34A71C68-E59B-E8F8-786D-874C3C45D905}"/>
              </a:ext>
            </a:extLst>
          </p:cNvPr>
          <p:cNvSpPr txBox="1"/>
          <p:nvPr/>
        </p:nvSpPr>
        <p:spPr>
          <a:xfrm>
            <a:off x="8714618" y="224011"/>
            <a:ext cx="2887072" cy="1446550"/>
          </a:xfrm>
          <a:prstGeom prst="rect">
            <a:avLst/>
          </a:prstGeom>
          <a:noFill/>
        </p:spPr>
        <p:txBody>
          <a:bodyPr wrap="square" rtlCol="0">
            <a:spAutoFit/>
          </a:bodyPr>
          <a:lstStyle/>
          <a:p>
            <a:pPr algn="ctr"/>
            <a:r>
              <a:rPr lang="en-US" sz="8800" b="1" dirty="0">
                <a:latin typeface="+mj-lt"/>
              </a:rPr>
              <a:t>SDLC</a:t>
            </a:r>
          </a:p>
        </p:txBody>
      </p:sp>
      <p:sp>
        <p:nvSpPr>
          <p:cNvPr id="9" name="TextBox 8">
            <a:extLst>
              <a:ext uri="{FF2B5EF4-FFF2-40B4-BE49-F238E27FC236}">
                <a16:creationId xmlns:a16="http://schemas.microsoft.com/office/drawing/2014/main" id="{FA33281F-5853-0F4E-D088-C27322EA3CC7}"/>
              </a:ext>
            </a:extLst>
          </p:cNvPr>
          <p:cNvSpPr txBox="1"/>
          <p:nvPr/>
        </p:nvSpPr>
        <p:spPr>
          <a:xfrm>
            <a:off x="609600" y="685800"/>
            <a:ext cx="4026554" cy="5324535"/>
          </a:xfrm>
          <a:prstGeom prst="rect">
            <a:avLst/>
          </a:prstGeom>
          <a:noFill/>
        </p:spPr>
        <p:txBody>
          <a:bodyPr wrap="square" lIns="91440" tIns="45720" rIns="91440" bIns="45720" rtlCol="0" anchor="t">
            <a:spAutoFit/>
          </a:bodyPr>
          <a:lstStyle>
            <a:defPPr>
              <a:defRPr lang="en-US"/>
            </a:defPPr>
            <a:lvl1pPr>
              <a:buFont typeface="Arial" panose="020B0604020202020204" pitchFamily="34" charset="0"/>
              <a:buChar char="•"/>
              <a:defRPr b="0" i="0">
                <a:solidFill>
                  <a:srgbClr val="374151"/>
                </a:solidFill>
                <a:effectLst/>
              </a:defRPr>
            </a:lvl1pPr>
          </a:lstStyle>
          <a:p>
            <a:pPr>
              <a:buNone/>
            </a:pPr>
            <a:r>
              <a:rPr lang="en-US" sz="2000" dirty="0"/>
              <a:t>Incremental Model Overview:</a:t>
            </a:r>
          </a:p>
          <a:p>
            <a:pPr>
              <a:buNone/>
            </a:pPr>
            <a:endParaRPr lang="en-US" sz="2000" dirty="0"/>
          </a:p>
          <a:p>
            <a:pPr indent="-285750"/>
            <a:r>
              <a:rPr lang="en-US" sz="2000" dirty="0"/>
              <a:t>Development broken into smaller, manageable six increments</a:t>
            </a:r>
          </a:p>
          <a:p>
            <a:pPr indent="-285750"/>
            <a:r>
              <a:rPr lang="en-US" sz="2000" dirty="0"/>
              <a:t>Each increment adds new functionality to the system</a:t>
            </a:r>
          </a:p>
          <a:p>
            <a:pPr indent="-285750"/>
            <a:endParaRPr lang="en-US" sz="2000" dirty="0"/>
          </a:p>
          <a:p>
            <a:pPr>
              <a:buNone/>
            </a:pPr>
            <a:r>
              <a:rPr lang="en-US" sz="2000" dirty="0"/>
              <a:t>Key Features:</a:t>
            </a:r>
          </a:p>
          <a:p>
            <a:pPr marL="285750" indent="-285750"/>
            <a:r>
              <a:rPr lang="en-US" sz="2000" dirty="0"/>
              <a:t>Modular development enables gradual improvement</a:t>
            </a:r>
          </a:p>
          <a:p>
            <a:pPr marL="285750" indent="-285750"/>
            <a:r>
              <a:rPr lang="en-US" sz="2000" dirty="0"/>
              <a:t>Early prototype provides quick feedback</a:t>
            </a:r>
          </a:p>
          <a:p>
            <a:pPr marL="285750" indent="-285750"/>
            <a:r>
              <a:rPr lang="en-US" sz="2000" dirty="0"/>
              <a:t>Reduces risk and manages complexity</a:t>
            </a:r>
          </a:p>
          <a:p>
            <a:pPr marL="285750" indent="-285750"/>
            <a:r>
              <a:rPr lang="en-US" sz="2000" dirty="0"/>
              <a:t>Integrates AI, OCR and mobile application</a:t>
            </a:r>
          </a:p>
        </p:txBody>
      </p:sp>
      <p:pic>
        <p:nvPicPr>
          <p:cNvPr id="10" name="Picture 9" descr="A screenshot of a computer screen&#10;&#10;AI-generated content may be incorrect.">
            <a:extLst>
              <a:ext uri="{FF2B5EF4-FFF2-40B4-BE49-F238E27FC236}">
                <a16:creationId xmlns:a16="http://schemas.microsoft.com/office/drawing/2014/main" id="{BEC20067-54B9-DBDA-869C-FF986DD13759}"/>
              </a:ext>
            </a:extLst>
          </p:cNvPr>
          <p:cNvPicPr>
            <a:picLocks noChangeAspect="1"/>
          </p:cNvPicPr>
          <p:nvPr/>
        </p:nvPicPr>
        <p:blipFill>
          <a:blip r:embed="rId2"/>
          <a:stretch>
            <a:fillRect/>
          </a:stretch>
        </p:blipFill>
        <p:spPr>
          <a:xfrm>
            <a:off x="5232779" y="1580295"/>
            <a:ext cx="6349621" cy="4622393"/>
          </a:xfrm>
          <a:prstGeom prst="rect">
            <a:avLst/>
          </a:prstGeom>
        </p:spPr>
      </p:pic>
    </p:spTree>
    <p:extLst>
      <p:ext uri="{BB962C8B-B14F-4D97-AF65-F5344CB8AC3E}">
        <p14:creationId xmlns:p14="http://schemas.microsoft.com/office/powerpoint/2010/main" val="6871398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C8ADD6B-1116-46BA-9BC7-881885756BAB}"/>
              </a:ext>
            </a:extLst>
          </p:cNvPr>
          <p:cNvGrpSpPr/>
          <p:nvPr/>
        </p:nvGrpSpPr>
        <p:grpSpPr>
          <a:xfrm>
            <a:off x="622624" y="1027654"/>
            <a:ext cx="8723180" cy="4464138"/>
            <a:chOff x="622624" y="332600"/>
            <a:chExt cx="8723180" cy="4464138"/>
          </a:xfrm>
        </p:grpSpPr>
        <p:sp>
          <p:nvSpPr>
            <p:cNvPr id="17" name="Homepage desc">
              <a:extLst>
                <a:ext uri="{FF2B5EF4-FFF2-40B4-BE49-F238E27FC236}">
                  <a16:creationId xmlns:a16="http://schemas.microsoft.com/office/drawing/2014/main" id="{6CC1D9DA-85AC-49CB-B7E0-109955F34E0C}"/>
                </a:ext>
              </a:extLst>
            </p:cNvPr>
            <p:cNvSpPr txBox="1"/>
            <p:nvPr/>
          </p:nvSpPr>
          <p:spPr>
            <a:xfrm>
              <a:off x="622624" y="1718972"/>
              <a:ext cx="8711608" cy="3077766"/>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t>Collect datasets and define system requirements</a:t>
              </a:r>
            </a:p>
            <a:p>
              <a:pPr marL="285750" indent="-285750">
                <a:lnSpc>
                  <a:spcPct val="150000"/>
                </a:lnSpc>
                <a:buFont typeface="Arial" panose="020B0604020202020204" pitchFamily="34" charset="0"/>
                <a:buChar char="•"/>
              </a:pPr>
              <a:r>
                <a:rPr lang="en-US" sz="2200" b="1" dirty="0"/>
                <a:t>Develop preliminary AI model for health misinformation detection</a:t>
              </a:r>
            </a:p>
            <a:p>
              <a:pPr marL="285750" indent="-285750">
                <a:lnSpc>
                  <a:spcPct val="150000"/>
                </a:lnSpc>
                <a:buFont typeface="Arial" panose="020B0604020202020204" pitchFamily="34" charset="0"/>
                <a:buChar char="•"/>
              </a:pPr>
              <a:r>
                <a:rPr lang="en-US" sz="2200" b="1" dirty="0"/>
                <a:t>Prepare technical documentation</a:t>
              </a:r>
            </a:p>
            <a:p>
              <a:pPr marL="285750" indent="-285750">
                <a:buFont typeface="Arial" panose="020B0604020202020204" pitchFamily="34" charset="0"/>
                <a:buChar char="•"/>
              </a:pPr>
              <a:endParaRPr lang="en-US" sz="2200" b="1" dirty="0"/>
            </a:p>
            <a:p>
              <a:pPr marL="285750" indent="-285750">
                <a:buFont typeface="Arial" panose="020B0604020202020204" pitchFamily="34" charset="0"/>
                <a:buChar char="•"/>
              </a:pPr>
              <a:endParaRPr lang="en-US" sz="2200" b="1" dirty="0"/>
            </a:p>
            <a:p>
              <a:pPr marL="285750" indent="-285750">
                <a:buFont typeface="Arial" panose="020B0604020202020204" pitchFamily="34" charset="0"/>
                <a:buChar char="•"/>
              </a:pPr>
              <a:endParaRPr lang="en-US" dirty="0"/>
            </a:p>
          </p:txBody>
        </p:sp>
        <p:sp>
          <p:nvSpPr>
            <p:cNvPr id="16" name="Homepage">
              <a:extLst>
                <a:ext uri="{FF2B5EF4-FFF2-40B4-BE49-F238E27FC236}">
                  <a16:creationId xmlns:a16="http://schemas.microsoft.com/office/drawing/2014/main" id="{0B398A56-D2D9-4A66-8ADC-B4AE33568F78}"/>
                </a:ext>
              </a:extLst>
            </p:cNvPr>
            <p:cNvSpPr txBox="1"/>
            <p:nvPr/>
          </p:nvSpPr>
          <p:spPr>
            <a:xfrm>
              <a:off x="634195" y="332600"/>
              <a:ext cx="8711609" cy="861774"/>
            </a:xfrm>
            <a:prstGeom prst="rect">
              <a:avLst/>
            </a:prstGeom>
            <a:noFill/>
          </p:spPr>
          <p:txBody>
            <a:bodyPr wrap="square" lIns="91440" tIns="45720" rIns="91440" bIns="45720" rtlCol="0" anchor="t">
              <a:spAutoFit/>
            </a:bodyPr>
            <a:lstStyle/>
            <a:p>
              <a:r>
                <a:rPr lang="en-US" sz="5000" b="1">
                  <a:latin typeface="+mj-lt"/>
                </a:rPr>
                <a:t>INCREMENT 1</a:t>
              </a:r>
              <a:endParaRPr lang="en-US"/>
            </a:p>
          </p:txBody>
        </p:sp>
      </p:grpSp>
      <p:sp>
        <p:nvSpPr>
          <p:cNvPr id="18" name="Homepage index">
            <a:extLst>
              <a:ext uri="{FF2B5EF4-FFF2-40B4-BE49-F238E27FC236}">
                <a16:creationId xmlns:a16="http://schemas.microsoft.com/office/drawing/2014/main" id="{5D8B85C3-F83A-4A96-BD39-9AADA7F6793E}"/>
              </a:ext>
            </a:extLst>
          </p:cNvPr>
          <p:cNvSpPr txBox="1"/>
          <p:nvPr/>
        </p:nvSpPr>
        <p:spPr>
          <a:xfrm rot="16200000">
            <a:off x="-255758" y="5430384"/>
            <a:ext cx="1364284" cy="369332"/>
          </a:xfrm>
          <a:prstGeom prst="rect">
            <a:avLst/>
          </a:prstGeom>
          <a:noFill/>
        </p:spPr>
        <p:txBody>
          <a:bodyPr wrap="none" lIns="91440" tIns="45720" rIns="91440" bIns="45720" rtlCol="0" anchor="t">
            <a:spAutoFit/>
          </a:bodyPr>
          <a:lstStyle/>
          <a:p>
            <a:r>
              <a:rPr lang="en-US" sz="1800" b="1" dirty="0">
                <a:latin typeface="+mj-lt"/>
              </a:rPr>
              <a:t>Increment 1</a:t>
            </a:r>
          </a:p>
        </p:txBody>
      </p:sp>
      <p:sp>
        <p:nvSpPr>
          <p:cNvPr id="2" name="Rectangle 1">
            <a:extLst>
              <a:ext uri="{FF2B5EF4-FFF2-40B4-BE49-F238E27FC236}">
                <a16:creationId xmlns:a16="http://schemas.microsoft.com/office/drawing/2014/main" id="{19211572-1C3E-4C41-8745-1911185053CE}"/>
              </a:ext>
            </a:extLst>
          </p:cNvPr>
          <p:cNvSpPr/>
          <p:nvPr/>
        </p:nvSpPr>
        <p:spPr>
          <a:xfrm>
            <a:off x="11696998" y="0"/>
            <a:ext cx="495300" cy="6858000"/>
          </a:xfrm>
          <a:prstGeom prst="rect">
            <a:avLst/>
          </a:prstGeom>
          <a:solidFill>
            <a:srgbClr val="A0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CBA6201-285A-483B-A7E4-5E46E5D91165}"/>
              </a:ext>
            </a:extLst>
          </p:cNvPr>
          <p:cNvSpPr/>
          <p:nvPr/>
        </p:nvSpPr>
        <p:spPr>
          <a:xfrm>
            <a:off x="11214545" y="0"/>
            <a:ext cx="495300" cy="6858000"/>
          </a:xfrm>
          <a:prstGeom prst="rect">
            <a:avLst/>
          </a:prstGeom>
          <a:solidFill>
            <a:srgbClr val="005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B5217ED-9EE3-48FA-BEB3-74EB84FA9B31}"/>
              </a:ext>
            </a:extLst>
          </p:cNvPr>
          <p:cNvSpPr/>
          <p:nvPr/>
        </p:nvSpPr>
        <p:spPr>
          <a:xfrm>
            <a:off x="10718800" y="0"/>
            <a:ext cx="495300" cy="6858000"/>
          </a:xfrm>
          <a:prstGeom prst="rect">
            <a:avLst/>
          </a:prstGeom>
          <a:solidFill>
            <a:srgbClr val="F27B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18">
            <a:extLst>
              <a:ext uri="{FF2B5EF4-FFF2-40B4-BE49-F238E27FC236}">
                <a16:creationId xmlns:a16="http://schemas.microsoft.com/office/drawing/2014/main" id="{7A96D971-68BC-4459-95F5-0583B16D5344}"/>
              </a:ext>
            </a:extLst>
          </p:cNvPr>
          <p:cNvSpPr txBox="1"/>
          <p:nvPr/>
        </p:nvSpPr>
        <p:spPr>
          <a:xfrm rot="16200000">
            <a:off x="10244539" y="5403936"/>
            <a:ext cx="1486946" cy="369332"/>
          </a:xfrm>
          <a:prstGeom prst="rect">
            <a:avLst/>
          </a:prstGeom>
          <a:noFill/>
        </p:spPr>
        <p:txBody>
          <a:bodyPr wrap="none" rtlCol="0">
            <a:spAutoFit/>
          </a:bodyPr>
          <a:lstStyle/>
          <a:p>
            <a:r>
              <a:rPr lang="en-US" b="1" dirty="0">
                <a:solidFill>
                  <a:schemeClr val="bg2"/>
                </a:solidFill>
              </a:rPr>
              <a:t> Increment 2</a:t>
            </a:r>
          </a:p>
        </p:txBody>
      </p:sp>
      <p:sp>
        <p:nvSpPr>
          <p:cNvPr id="21" name="TextBox 20">
            <a:extLst>
              <a:ext uri="{FF2B5EF4-FFF2-40B4-BE49-F238E27FC236}">
                <a16:creationId xmlns:a16="http://schemas.microsoft.com/office/drawing/2014/main" id="{8B3216B4-89D8-4DC5-91DC-B956287EF827}"/>
              </a:ext>
            </a:extLst>
          </p:cNvPr>
          <p:cNvSpPr txBox="1"/>
          <p:nvPr/>
        </p:nvSpPr>
        <p:spPr>
          <a:xfrm rot="16200000">
            <a:off x="10741970" y="5403938"/>
            <a:ext cx="1440459" cy="369332"/>
          </a:xfrm>
          <a:prstGeom prst="rect">
            <a:avLst/>
          </a:prstGeom>
          <a:noFill/>
        </p:spPr>
        <p:txBody>
          <a:bodyPr wrap="none" rtlCol="0">
            <a:spAutoFit/>
          </a:bodyPr>
          <a:lstStyle/>
          <a:p>
            <a:r>
              <a:rPr lang="en-US" b="1" dirty="0">
                <a:solidFill>
                  <a:schemeClr val="bg1"/>
                </a:solidFill>
              </a:rPr>
              <a:t>Increment 3</a:t>
            </a:r>
          </a:p>
        </p:txBody>
      </p:sp>
      <p:sp>
        <p:nvSpPr>
          <p:cNvPr id="22" name="TextBox 21">
            <a:extLst>
              <a:ext uri="{FF2B5EF4-FFF2-40B4-BE49-F238E27FC236}">
                <a16:creationId xmlns:a16="http://schemas.microsoft.com/office/drawing/2014/main" id="{4EF401E1-6D12-47A0-A2AE-EBC258351D52}"/>
              </a:ext>
            </a:extLst>
          </p:cNvPr>
          <p:cNvSpPr txBox="1"/>
          <p:nvPr/>
        </p:nvSpPr>
        <p:spPr>
          <a:xfrm rot="16200000">
            <a:off x="11224424" y="5364553"/>
            <a:ext cx="1440459" cy="369332"/>
          </a:xfrm>
          <a:prstGeom prst="rect">
            <a:avLst/>
          </a:prstGeom>
          <a:noFill/>
        </p:spPr>
        <p:txBody>
          <a:bodyPr wrap="none" rtlCol="0">
            <a:spAutoFit/>
          </a:bodyPr>
          <a:lstStyle/>
          <a:p>
            <a:r>
              <a:rPr lang="en-US" b="1" dirty="0">
                <a:solidFill>
                  <a:schemeClr val="bg1"/>
                </a:solidFill>
              </a:rPr>
              <a:t>Increment 4</a:t>
            </a:r>
          </a:p>
        </p:txBody>
      </p:sp>
    </p:spTree>
    <p:extLst>
      <p:ext uri="{BB962C8B-B14F-4D97-AF65-F5344CB8AC3E}">
        <p14:creationId xmlns:p14="http://schemas.microsoft.com/office/powerpoint/2010/main" val="23311349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B5217ED-9EE3-48FA-BEB3-74EB84FA9B31}"/>
              </a:ext>
            </a:extLst>
          </p:cNvPr>
          <p:cNvSpPr/>
          <p:nvPr/>
        </p:nvSpPr>
        <p:spPr>
          <a:xfrm>
            <a:off x="-2" y="0"/>
            <a:ext cx="11377916" cy="6858000"/>
          </a:xfrm>
          <a:prstGeom prst="rect">
            <a:avLst/>
          </a:prstGeom>
          <a:solidFill>
            <a:srgbClr val="F27B9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   </a:t>
            </a:r>
          </a:p>
          <a:p>
            <a:pPr algn="ctr"/>
            <a:endParaRPr lang="en-US"/>
          </a:p>
        </p:txBody>
      </p:sp>
      <p:grpSp>
        <p:nvGrpSpPr>
          <p:cNvPr id="14" name="Group 13">
            <a:extLst>
              <a:ext uri="{FF2B5EF4-FFF2-40B4-BE49-F238E27FC236}">
                <a16:creationId xmlns:a16="http://schemas.microsoft.com/office/drawing/2014/main" id="{A5B1B22F-26D0-4243-80B4-33CFC2FBD023}"/>
              </a:ext>
            </a:extLst>
          </p:cNvPr>
          <p:cNvGrpSpPr/>
          <p:nvPr/>
        </p:nvGrpSpPr>
        <p:grpSpPr>
          <a:xfrm>
            <a:off x="507958" y="978999"/>
            <a:ext cx="9194060" cy="2210105"/>
            <a:chOff x="460633" y="155197"/>
            <a:chExt cx="9220270" cy="2210105"/>
          </a:xfrm>
        </p:grpSpPr>
        <p:sp>
          <p:nvSpPr>
            <p:cNvPr id="10" name="Menu desc">
              <a:extLst>
                <a:ext uri="{FF2B5EF4-FFF2-40B4-BE49-F238E27FC236}">
                  <a16:creationId xmlns:a16="http://schemas.microsoft.com/office/drawing/2014/main" id="{32FF0A03-00CC-464C-B0BC-8DC0A7ACD663}"/>
                </a:ext>
              </a:extLst>
            </p:cNvPr>
            <p:cNvSpPr txBox="1"/>
            <p:nvPr/>
          </p:nvSpPr>
          <p:spPr>
            <a:xfrm>
              <a:off x="473738" y="1995970"/>
              <a:ext cx="9194063" cy="369332"/>
            </a:xfrm>
            <a:prstGeom prst="rect">
              <a:avLst/>
            </a:prstGeom>
            <a:noFill/>
          </p:spPr>
          <p:txBody>
            <a:bodyPr wrap="square" rtlCol="0">
              <a:spAutoFit/>
            </a:bodyPr>
            <a:lstStyle/>
            <a:p>
              <a:pPr marL="285750" indent="-285750">
                <a:buFont typeface="Arial" panose="020B0604020202020204" pitchFamily="34" charset="0"/>
                <a:buChar char="•"/>
              </a:pPr>
              <a:endParaRPr lang="en-US">
                <a:solidFill>
                  <a:schemeClr val="bg2"/>
                </a:solidFill>
              </a:endParaRPr>
            </a:p>
          </p:txBody>
        </p:sp>
        <p:sp>
          <p:nvSpPr>
            <p:cNvPr id="8" name="Menu Title">
              <a:extLst>
                <a:ext uri="{FF2B5EF4-FFF2-40B4-BE49-F238E27FC236}">
                  <a16:creationId xmlns:a16="http://schemas.microsoft.com/office/drawing/2014/main" id="{AC2D51F4-7AC7-4790-ADEB-692289DE16CB}"/>
                </a:ext>
              </a:extLst>
            </p:cNvPr>
            <p:cNvSpPr txBox="1"/>
            <p:nvPr/>
          </p:nvSpPr>
          <p:spPr>
            <a:xfrm>
              <a:off x="460633" y="155197"/>
              <a:ext cx="9220270" cy="861774"/>
            </a:xfrm>
            <a:prstGeom prst="rect">
              <a:avLst/>
            </a:prstGeom>
            <a:noFill/>
          </p:spPr>
          <p:txBody>
            <a:bodyPr wrap="square" lIns="91440" tIns="45720" rIns="91440" bIns="45720" rtlCol="0" anchor="t">
              <a:spAutoFit/>
            </a:bodyPr>
            <a:lstStyle>
              <a:defPPr>
                <a:defRPr lang="en-US"/>
              </a:defPPr>
              <a:lvl1pPr>
                <a:defRPr sz="5000" b="1">
                  <a:solidFill>
                    <a:srgbClr val="4B2E1D"/>
                  </a:solidFill>
                  <a:latin typeface="+mj-lt"/>
                </a:defRPr>
              </a:lvl1pPr>
            </a:lstStyle>
            <a:p>
              <a:r>
                <a:rPr lang="en-US">
                  <a:solidFill>
                    <a:srgbClr val="E9F3FB"/>
                  </a:solidFill>
                </a:rPr>
                <a:t>INCREMENT</a:t>
              </a:r>
              <a:r>
                <a:rPr lang="en-US">
                  <a:solidFill>
                    <a:schemeClr val="bg2"/>
                  </a:solidFill>
                </a:rPr>
                <a:t> 2</a:t>
              </a:r>
            </a:p>
          </p:txBody>
        </p:sp>
      </p:grpSp>
      <p:sp>
        <p:nvSpPr>
          <p:cNvPr id="34" name="Menu index">
            <a:extLst>
              <a:ext uri="{FF2B5EF4-FFF2-40B4-BE49-F238E27FC236}">
                <a16:creationId xmlns:a16="http://schemas.microsoft.com/office/drawing/2014/main" id="{7A96D971-68BC-4459-95F5-0583B16D5344}"/>
              </a:ext>
            </a:extLst>
          </p:cNvPr>
          <p:cNvSpPr txBox="1"/>
          <p:nvPr/>
        </p:nvSpPr>
        <p:spPr>
          <a:xfrm rot="16200000">
            <a:off x="-284148" y="5376331"/>
            <a:ext cx="1440459" cy="369332"/>
          </a:xfrm>
          <a:prstGeom prst="rect">
            <a:avLst/>
          </a:prstGeom>
          <a:noFill/>
        </p:spPr>
        <p:txBody>
          <a:bodyPr wrap="none" rtlCol="0">
            <a:spAutoFit/>
          </a:bodyPr>
          <a:lstStyle/>
          <a:p>
            <a:r>
              <a:rPr lang="en-US" b="1" dirty="0">
                <a:solidFill>
                  <a:schemeClr val="bg2"/>
                </a:solidFill>
              </a:rPr>
              <a:t>Increment 2</a:t>
            </a:r>
          </a:p>
        </p:txBody>
      </p:sp>
      <p:sp>
        <p:nvSpPr>
          <p:cNvPr id="2" name="Rectangle 1">
            <a:extLst>
              <a:ext uri="{FF2B5EF4-FFF2-40B4-BE49-F238E27FC236}">
                <a16:creationId xmlns:a16="http://schemas.microsoft.com/office/drawing/2014/main" id="{19211572-1C3E-4C41-8745-1911185053CE}"/>
              </a:ext>
            </a:extLst>
          </p:cNvPr>
          <p:cNvSpPr/>
          <p:nvPr/>
        </p:nvSpPr>
        <p:spPr>
          <a:xfrm>
            <a:off x="11701098" y="0"/>
            <a:ext cx="495300" cy="6858000"/>
          </a:xfrm>
          <a:prstGeom prst="rect">
            <a:avLst/>
          </a:prstGeom>
          <a:solidFill>
            <a:srgbClr val="A0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CBA6201-285A-483B-A7E4-5E46E5D91165}"/>
              </a:ext>
            </a:extLst>
          </p:cNvPr>
          <p:cNvSpPr/>
          <p:nvPr/>
        </p:nvSpPr>
        <p:spPr>
          <a:xfrm>
            <a:off x="11218645" y="0"/>
            <a:ext cx="495300" cy="6858000"/>
          </a:xfrm>
          <a:prstGeom prst="rect">
            <a:avLst/>
          </a:prstGeom>
          <a:solidFill>
            <a:srgbClr val="005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B3216B4-89D8-4DC5-91DC-B956287EF827}"/>
              </a:ext>
            </a:extLst>
          </p:cNvPr>
          <p:cNvSpPr txBox="1"/>
          <p:nvPr/>
        </p:nvSpPr>
        <p:spPr>
          <a:xfrm rot="16200000">
            <a:off x="10722920" y="5403938"/>
            <a:ext cx="1440459" cy="369332"/>
          </a:xfrm>
          <a:prstGeom prst="rect">
            <a:avLst/>
          </a:prstGeom>
          <a:noFill/>
        </p:spPr>
        <p:txBody>
          <a:bodyPr wrap="none" rtlCol="0">
            <a:spAutoFit/>
          </a:bodyPr>
          <a:lstStyle/>
          <a:p>
            <a:r>
              <a:rPr lang="en-US" b="1" dirty="0">
                <a:solidFill>
                  <a:schemeClr val="bg1"/>
                </a:solidFill>
              </a:rPr>
              <a:t>Increment 3</a:t>
            </a:r>
          </a:p>
        </p:txBody>
      </p:sp>
      <p:sp>
        <p:nvSpPr>
          <p:cNvPr id="15" name="About desc">
            <a:extLst>
              <a:ext uri="{FF2B5EF4-FFF2-40B4-BE49-F238E27FC236}">
                <a16:creationId xmlns:a16="http://schemas.microsoft.com/office/drawing/2014/main" id="{0C9A480C-FC08-42F2-A16C-064DF07A70C8}"/>
              </a:ext>
            </a:extLst>
          </p:cNvPr>
          <p:cNvSpPr txBox="1"/>
          <p:nvPr/>
        </p:nvSpPr>
        <p:spPr>
          <a:xfrm>
            <a:off x="541930" y="2599635"/>
            <a:ext cx="9713251" cy="2074863"/>
          </a:xfrm>
          <a:prstGeom prst="rect">
            <a:avLst/>
          </a:prstGeom>
          <a:noFill/>
        </p:spPr>
        <p:txBody>
          <a:bodyPr wrap="square" lIns="91440" tIns="45720" rIns="91440" bIns="45720" rtlCol="0" anchor="t">
            <a:spAutoFit/>
          </a:bodyPr>
          <a:lstStyle>
            <a:defPPr>
              <a:defRPr lang="en-US"/>
            </a:defPPr>
            <a:lvl1pPr marL="285750" indent="-285750">
              <a:buFont typeface="Arial" panose="020B0604020202020204" pitchFamily="34" charset="0"/>
              <a:buChar char="•"/>
              <a:defRPr>
                <a:solidFill>
                  <a:srgbClr val="4B2E1D"/>
                </a:solidFill>
              </a:defRPr>
            </a:lvl1pPr>
          </a:lstStyle>
          <a:p>
            <a:pPr>
              <a:lnSpc>
                <a:spcPct val="150000"/>
              </a:lnSpc>
            </a:pPr>
            <a:r>
              <a:rPr lang="en-US" sz="2200" b="1" dirty="0">
                <a:solidFill>
                  <a:schemeClr val="bg1"/>
                </a:solidFill>
              </a:rPr>
              <a:t>Design evidence indexing system</a:t>
            </a:r>
          </a:p>
          <a:p>
            <a:pPr>
              <a:lnSpc>
                <a:spcPct val="150000"/>
              </a:lnSpc>
            </a:pPr>
            <a:r>
              <a:rPr lang="en-US" sz="2200" b="1" dirty="0">
                <a:solidFill>
                  <a:schemeClr val="bg1"/>
                </a:solidFill>
                <a:ea typeface="+mn-lt"/>
                <a:cs typeface="+mn-lt"/>
              </a:rPr>
              <a:t>Start mobile application UI/UX development</a:t>
            </a:r>
            <a:endParaRPr lang="en-US" sz="2200" b="1" dirty="0">
              <a:solidFill>
                <a:schemeClr val="bg1"/>
              </a:solidFill>
            </a:endParaRPr>
          </a:p>
          <a:p>
            <a:pPr>
              <a:lnSpc>
                <a:spcPct val="150000"/>
              </a:lnSpc>
            </a:pPr>
            <a:r>
              <a:rPr lang="en-US" sz="2200" b="1" dirty="0">
                <a:solidFill>
                  <a:schemeClr val="bg1"/>
                </a:solidFill>
                <a:ea typeface="+mn-lt"/>
                <a:cs typeface="+mn-lt"/>
              </a:rPr>
              <a:t>Begin AI model for tracking misinformation</a:t>
            </a:r>
            <a:endParaRPr lang="en-US" sz="2200" b="1" dirty="0">
              <a:solidFill>
                <a:schemeClr val="bg1"/>
              </a:solidFill>
            </a:endParaRPr>
          </a:p>
          <a:p>
            <a:pPr>
              <a:lnSpc>
                <a:spcPct val="150000"/>
              </a:lnSpc>
            </a:pPr>
            <a:r>
              <a:rPr lang="en-US" sz="2200" b="1" dirty="0">
                <a:solidFill>
                  <a:schemeClr val="bg1"/>
                </a:solidFill>
                <a:ea typeface="+mn-lt"/>
                <a:cs typeface="+mn-lt"/>
              </a:rPr>
              <a:t>Research OCR module</a:t>
            </a:r>
            <a:endParaRPr lang="en-US" sz="2200" b="1" dirty="0">
              <a:solidFill>
                <a:schemeClr val="bg1"/>
              </a:solidFill>
            </a:endParaRPr>
          </a:p>
        </p:txBody>
      </p:sp>
      <p:sp>
        <p:nvSpPr>
          <p:cNvPr id="16" name="TextBox 15">
            <a:extLst>
              <a:ext uri="{FF2B5EF4-FFF2-40B4-BE49-F238E27FC236}">
                <a16:creationId xmlns:a16="http://schemas.microsoft.com/office/drawing/2014/main" id="{E122B428-3B0A-471F-BD48-0791BF40399C}"/>
              </a:ext>
            </a:extLst>
          </p:cNvPr>
          <p:cNvSpPr txBox="1"/>
          <p:nvPr/>
        </p:nvSpPr>
        <p:spPr>
          <a:xfrm rot="16200000">
            <a:off x="11211724" y="5387699"/>
            <a:ext cx="1440459" cy="369332"/>
          </a:xfrm>
          <a:prstGeom prst="rect">
            <a:avLst/>
          </a:prstGeom>
          <a:noFill/>
        </p:spPr>
        <p:txBody>
          <a:bodyPr wrap="none" rtlCol="0">
            <a:spAutoFit/>
          </a:bodyPr>
          <a:lstStyle/>
          <a:p>
            <a:r>
              <a:rPr lang="en-US" b="1" dirty="0">
                <a:solidFill>
                  <a:schemeClr val="bg1"/>
                </a:solidFill>
              </a:rPr>
              <a:t>Increment 4</a:t>
            </a:r>
          </a:p>
        </p:txBody>
      </p:sp>
      <p:sp>
        <p:nvSpPr>
          <p:cNvPr id="9" name="Rectangle 8">
            <a:extLst>
              <a:ext uri="{FF2B5EF4-FFF2-40B4-BE49-F238E27FC236}">
                <a16:creationId xmlns:a16="http://schemas.microsoft.com/office/drawing/2014/main" id="{4287F2EC-9A27-2BFE-35C4-BB19466B222A}"/>
              </a:ext>
            </a:extLst>
          </p:cNvPr>
          <p:cNvSpPr/>
          <p:nvPr/>
        </p:nvSpPr>
        <p:spPr>
          <a:xfrm>
            <a:off x="12209334" y="1929"/>
            <a:ext cx="4953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1" name="TextBox 10">
            <a:extLst>
              <a:ext uri="{FF2B5EF4-FFF2-40B4-BE49-F238E27FC236}">
                <a16:creationId xmlns:a16="http://schemas.microsoft.com/office/drawing/2014/main" id="{495980D9-3A6E-4B48-FA49-15EA961A38D8}"/>
              </a:ext>
            </a:extLst>
          </p:cNvPr>
          <p:cNvSpPr txBox="1"/>
          <p:nvPr/>
        </p:nvSpPr>
        <p:spPr>
          <a:xfrm rot="16200000">
            <a:off x="11736760" y="5366483"/>
            <a:ext cx="1440459" cy="369332"/>
          </a:xfrm>
          <a:prstGeom prst="rect">
            <a:avLst/>
          </a:prstGeom>
          <a:solidFill>
            <a:schemeClr val="tx1"/>
          </a:solidFill>
        </p:spPr>
        <p:txBody>
          <a:bodyPr wrap="none" rtlCol="0">
            <a:spAutoFit/>
          </a:bodyPr>
          <a:lstStyle/>
          <a:p>
            <a:r>
              <a:rPr lang="en-US" b="1" dirty="0">
                <a:solidFill>
                  <a:schemeClr val="bg1"/>
                </a:solidFill>
              </a:rPr>
              <a:t>Increment 5</a:t>
            </a:r>
          </a:p>
        </p:txBody>
      </p:sp>
      <p:sp>
        <p:nvSpPr>
          <p:cNvPr id="12" name="Rectangle 11">
            <a:extLst>
              <a:ext uri="{FF2B5EF4-FFF2-40B4-BE49-F238E27FC236}">
                <a16:creationId xmlns:a16="http://schemas.microsoft.com/office/drawing/2014/main" id="{C64BA2CE-43A2-2C9B-A89F-7AA855307D8E}"/>
              </a:ext>
            </a:extLst>
          </p:cNvPr>
          <p:cNvSpPr/>
          <p:nvPr/>
        </p:nvSpPr>
        <p:spPr>
          <a:xfrm>
            <a:off x="12719962" y="0"/>
            <a:ext cx="4953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3" name="TextBox 12">
            <a:extLst>
              <a:ext uri="{FF2B5EF4-FFF2-40B4-BE49-F238E27FC236}">
                <a16:creationId xmlns:a16="http://schemas.microsoft.com/office/drawing/2014/main" id="{DF750C19-4298-1231-F457-6DBD218C9B70}"/>
              </a:ext>
            </a:extLst>
          </p:cNvPr>
          <p:cNvSpPr txBox="1"/>
          <p:nvPr/>
        </p:nvSpPr>
        <p:spPr>
          <a:xfrm rot="16200000">
            <a:off x="12247388" y="5364554"/>
            <a:ext cx="1440459" cy="369332"/>
          </a:xfrm>
          <a:prstGeom prst="rect">
            <a:avLst/>
          </a:prstGeom>
          <a:solidFill>
            <a:schemeClr val="accent5">
              <a:lumMod val="50000"/>
            </a:schemeClr>
          </a:solidFill>
        </p:spPr>
        <p:txBody>
          <a:bodyPr wrap="none" rtlCol="0">
            <a:spAutoFit/>
          </a:bodyPr>
          <a:lstStyle/>
          <a:p>
            <a:r>
              <a:rPr lang="en-US" b="1" dirty="0">
                <a:solidFill>
                  <a:schemeClr val="bg1"/>
                </a:solidFill>
              </a:rPr>
              <a:t>Increment 6</a:t>
            </a:r>
          </a:p>
        </p:txBody>
      </p:sp>
    </p:spTree>
    <p:extLst>
      <p:ext uri="{BB962C8B-B14F-4D97-AF65-F5344CB8AC3E}">
        <p14:creationId xmlns:p14="http://schemas.microsoft.com/office/powerpoint/2010/main" val="252780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E2CFE142-194E-42E6-A122-1C851BA36E0B}"/>
              </a:ext>
            </a:extLst>
          </p:cNvPr>
          <p:cNvSpPr/>
          <p:nvPr/>
        </p:nvSpPr>
        <p:spPr>
          <a:xfrm>
            <a:off x="445" y="0"/>
            <a:ext cx="10197953" cy="6858000"/>
          </a:xfrm>
          <a:prstGeom prst="rect">
            <a:avLst/>
          </a:prstGeom>
          <a:solidFill>
            <a:srgbClr val="FFFC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bout desc" hidden="1">
            <a:extLst>
              <a:ext uri="{FF2B5EF4-FFF2-40B4-BE49-F238E27FC236}">
                <a16:creationId xmlns:a16="http://schemas.microsoft.com/office/drawing/2014/main" id="{EAC1F8D6-CFB1-423D-86A9-4D8E311DA051}"/>
              </a:ext>
            </a:extLst>
          </p:cNvPr>
          <p:cNvSpPr txBox="1"/>
          <p:nvPr/>
        </p:nvSpPr>
        <p:spPr>
          <a:xfrm>
            <a:off x="82365" y="2043805"/>
            <a:ext cx="8203634" cy="1477328"/>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a:solidFill>
                  <a:srgbClr val="4B2E1D"/>
                </a:solidFill>
              </a:defRPr>
            </a:lvl1pPr>
          </a:lstStyle>
          <a:p>
            <a:r>
              <a:rPr lang="en-US"/>
              <a:t>The About Us page shares our bakery's story, rooted in a passion for baking and a commitment to quality.</a:t>
            </a:r>
          </a:p>
          <a:p>
            <a:pPr marL="0" indent="0">
              <a:buNone/>
            </a:pPr>
            <a:endParaRPr lang="en-US"/>
          </a:p>
          <a:p>
            <a:r>
              <a:rPr lang="en-US"/>
              <a:t>Customers get a glimpse of the bakers behind the scenes and the love they pour into every creation.</a:t>
            </a:r>
          </a:p>
        </p:txBody>
      </p:sp>
      <p:sp>
        <p:nvSpPr>
          <p:cNvPr id="4" name="Rectangle 3">
            <a:extLst>
              <a:ext uri="{FF2B5EF4-FFF2-40B4-BE49-F238E27FC236}">
                <a16:creationId xmlns:a16="http://schemas.microsoft.com/office/drawing/2014/main" id="{BCBA6201-285A-483B-A7E4-5E46E5D91165}"/>
              </a:ext>
            </a:extLst>
          </p:cNvPr>
          <p:cNvSpPr/>
          <p:nvPr/>
        </p:nvSpPr>
        <p:spPr>
          <a:xfrm>
            <a:off x="-12848" y="-11098"/>
            <a:ext cx="11785533" cy="6869098"/>
          </a:xfrm>
          <a:prstGeom prst="rect">
            <a:avLst/>
          </a:prstGeom>
          <a:solidFill>
            <a:srgbClr val="005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B3216B4-89D8-4DC5-91DC-B956287EF827}"/>
              </a:ext>
            </a:extLst>
          </p:cNvPr>
          <p:cNvSpPr txBox="1"/>
          <p:nvPr/>
        </p:nvSpPr>
        <p:spPr>
          <a:xfrm rot="16200000">
            <a:off x="-279943" y="5381305"/>
            <a:ext cx="1440459" cy="369332"/>
          </a:xfrm>
          <a:prstGeom prst="rect">
            <a:avLst/>
          </a:prstGeom>
          <a:noFill/>
        </p:spPr>
        <p:txBody>
          <a:bodyPr wrap="none" rtlCol="0">
            <a:spAutoFit/>
          </a:bodyPr>
          <a:lstStyle/>
          <a:p>
            <a:r>
              <a:rPr lang="en-US" b="1" dirty="0">
                <a:solidFill>
                  <a:schemeClr val="bg1"/>
                </a:solidFill>
              </a:rPr>
              <a:t>Increment 3</a:t>
            </a:r>
          </a:p>
        </p:txBody>
      </p:sp>
      <p:grpSp>
        <p:nvGrpSpPr>
          <p:cNvPr id="5" name="Group 4">
            <a:extLst>
              <a:ext uri="{FF2B5EF4-FFF2-40B4-BE49-F238E27FC236}">
                <a16:creationId xmlns:a16="http://schemas.microsoft.com/office/drawing/2014/main" id="{574B7835-A41E-48DD-A424-ADA2B9A355F7}"/>
              </a:ext>
            </a:extLst>
          </p:cNvPr>
          <p:cNvGrpSpPr/>
          <p:nvPr/>
        </p:nvGrpSpPr>
        <p:grpSpPr>
          <a:xfrm>
            <a:off x="621348" y="1386126"/>
            <a:ext cx="10197953" cy="3520143"/>
            <a:chOff x="621348" y="-467383"/>
            <a:chExt cx="10197953" cy="3520143"/>
          </a:xfrm>
        </p:grpSpPr>
        <p:sp>
          <p:nvSpPr>
            <p:cNvPr id="13" name="TextBox 12">
              <a:extLst>
                <a:ext uri="{FF2B5EF4-FFF2-40B4-BE49-F238E27FC236}">
                  <a16:creationId xmlns:a16="http://schemas.microsoft.com/office/drawing/2014/main" id="{A58FB206-AF10-4A7C-8499-1093F00AE87C}"/>
                </a:ext>
              </a:extLst>
            </p:cNvPr>
            <p:cNvSpPr txBox="1"/>
            <p:nvPr/>
          </p:nvSpPr>
          <p:spPr>
            <a:xfrm>
              <a:off x="621348" y="-467383"/>
              <a:ext cx="10197953" cy="861774"/>
            </a:xfrm>
            <a:prstGeom prst="rect">
              <a:avLst/>
            </a:prstGeom>
            <a:noFill/>
          </p:spPr>
          <p:txBody>
            <a:bodyPr wrap="square" lIns="91440" tIns="45720" rIns="91440" bIns="45720" rtlCol="0" anchor="t">
              <a:spAutoFit/>
            </a:bodyPr>
            <a:lstStyle>
              <a:defPPr>
                <a:defRPr lang="en-US"/>
              </a:defPPr>
              <a:lvl1pPr>
                <a:defRPr sz="5000" b="1">
                  <a:solidFill>
                    <a:srgbClr val="4B2E1D"/>
                  </a:solidFill>
                  <a:latin typeface="+mj-lt"/>
                </a:defRPr>
              </a:lvl1pPr>
            </a:lstStyle>
            <a:p>
              <a:r>
                <a:rPr lang="en-US" dirty="0">
                  <a:solidFill>
                    <a:schemeClr val="bg1"/>
                  </a:solidFill>
                </a:rPr>
                <a:t>INCREMENT 3</a:t>
              </a:r>
            </a:p>
          </p:txBody>
        </p:sp>
        <p:sp>
          <p:nvSpPr>
            <p:cNvPr id="25" name="TextBox 24">
              <a:extLst>
                <a:ext uri="{FF2B5EF4-FFF2-40B4-BE49-F238E27FC236}">
                  <a16:creationId xmlns:a16="http://schemas.microsoft.com/office/drawing/2014/main" id="{5D053FFA-DD9A-45F0-8835-012F4C948C22}"/>
                </a:ext>
              </a:extLst>
            </p:cNvPr>
            <p:cNvSpPr txBox="1"/>
            <p:nvPr/>
          </p:nvSpPr>
          <p:spPr>
            <a:xfrm>
              <a:off x="621348" y="977897"/>
              <a:ext cx="10103202" cy="2074863"/>
            </a:xfrm>
            <a:prstGeom prst="rect">
              <a:avLst/>
            </a:prstGeom>
            <a:noFill/>
          </p:spPr>
          <p:txBody>
            <a:bodyPr wrap="square" lIns="91440" tIns="45720" rIns="91440" bIns="45720" rtlCol="0" anchor="t">
              <a:spAutoFit/>
            </a:bodyPr>
            <a:lstStyle>
              <a:defPPr>
                <a:defRPr lang="en-US"/>
              </a:defPPr>
              <a:lvl1pPr>
                <a:defRPr b="1">
                  <a:solidFill>
                    <a:schemeClr val="tx2"/>
                  </a:solidFill>
                </a:defRPr>
              </a:lvl1pPr>
            </a:lstStyle>
            <a:p>
              <a:pPr marL="285750" indent="-285750">
                <a:lnSpc>
                  <a:spcPct val="150000"/>
                </a:lnSpc>
                <a:buFont typeface="Arial" panose="020B0604020202020204" pitchFamily="34" charset="0"/>
                <a:buChar char="•"/>
              </a:pPr>
              <a:r>
                <a:rPr lang="en-US" sz="2200" dirty="0">
                  <a:solidFill>
                    <a:schemeClr val="bg1"/>
                  </a:solidFill>
                </a:rPr>
                <a:t>Develop core mobile application</a:t>
              </a:r>
            </a:p>
            <a:p>
              <a:pPr marL="285750" indent="-285750">
                <a:lnSpc>
                  <a:spcPct val="150000"/>
                </a:lnSpc>
                <a:buFont typeface="Arial" panose="020B0604020202020204" pitchFamily="34" charset="0"/>
                <a:buChar char="•"/>
              </a:pPr>
              <a:r>
                <a:rPr lang="en-US" sz="2200" dirty="0">
                  <a:solidFill>
                    <a:schemeClr val="bg1"/>
                  </a:solidFill>
                  <a:ea typeface="+mn-lt"/>
                  <a:cs typeface="+mn-lt"/>
                </a:rPr>
                <a:t>Begin OCR module design</a:t>
              </a:r>
            </a:p>
            <a:p>
              <a:pPr marL="285750" indent="-285750">
                <a:lnSpc>
                  <a:spcPct val="150000"/>
                </a:lnSpc>
                <a:buFont typeface="Arial" panose="020B0604020202020204" pitchFamily="34" charset="0"/>
                <a:buChar char="•"/>
              </a:pPr>
              <a:r>
                <a:rPr lang="en-US" sz="2200" dirty="0">
                  <a:solidFill>
                    <a:schemeClr val="bg1"/>
                  </a:solidFill>
                  <a:ea typeface="+mn-lt"/>
                  <a:cs typeface="+mn-lt"/>
                </a:rPr>
                <a:t>Develop AI model to trace misinformation</a:t>
              </a:r>
              <a:endParaRPr lang="en-US" sz="2200" dirty="0">
                <a:solidFill>
                  <a:schemeClr val="bg1"/>
                </a:solidFill>
              </a:endParaRPr>
            </a:p>
            <a:p>
              <a:pPr marL="285750" indent="-285750">
                <a:lnSpc>
                  <a:spcPct val="150000"/>
                </a:lnSpc>
                <a:buFont typeface="Arial" panose="020B0604020202020204" pitchFamily="34" charset="0"/>
                <a:buChar char="•"/>
              </a:pPr>
              <a:r>
                <a:rPr lang="en-US" sz="2200" dirty="0">
                  <a:solidFill>
                    <a:schemeClr val="bg1"/>
                  </a:solidFill>
                  <a:ea typeface="+mn-lt"/>
                  <a:cs typeface="+mn-lt"/>
                </a:rPr>
                <a:t>Backend design initiation</a:t>
              </a:r>
              <a:endParaRPr lang="en-US" sz="2200" dirty="0">
                <a:solidFill>
                  <a:schemeClr val="bg1"/>
                </a:solidFill>
              </a:endParaRPr>
            </a:p>
          </p:txBody>
        </p:sp>
      </p:grpSp>
      <p:sp>
        <p:nvSpPr>
          <p:cNvPr id="12" name="Rectangle 11">
            <a:extLst>
              <a:ext uri="{FF2B5EF4-FFF2-40B4-BE49-F238E27FC236}">
                <a16:creationId xmlns:a16="http://schemas.microsoft.com/office/drawing/2014/main" id="{0AF3B01A-0FAD-8EBA-0F72-5CEEED67BDAB}"/>
              </a:ext>
            </a:extLst>
          </p:cNvPr>
          <p:cNvSpPr/>
          <p:nvPr/>
        </p:nvSpPr>
        <p:spPr>
          <a:xfrm>
            <a:off x="11249686" y="0"/>
            <a:ext cx="495300" cy="6858000"/>
          </a:xfrm>
          <a:prstGeom prst="rect">
            <a:avLst/>
          </a:prstGeom>
          <a:solidFill>
            <a:srgbClr val="A0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7CA2C76-D0E7-F08F-6E04-97AE9AC7D8BA}"/>
              </a:ext>
            </a:extLst>
          </p:cNvPr>
          <p:cNvSpPr txBox="1"/>
          <p:nvPr/>
        </p:nvSpPr>
        <p:spPr>
          <a:xfrm rot="16200000">
            <a:off x="10760312" y="5387699"/>
            <a:ext cx="1440459" cy="369332"/>
          </a:xfrm>
          <a:prstGeom prst="rect">
            <a:avLst/>
          </a:prstGeom>
          <a:noFill/>
        </p:spPr>
        <p:txBody>
          <a:bodyPr wrap="none" rtlCol="0">
            <a:spAutoFit/>
          </a:bodyPr>
          <a:lstStyle/>
          <a:p>
            <a:r>
              <a:rPr lang="en-US" b="1" dirty="0">
                <a:solidFill>
                  <a:schemeClr val="bg1"/>
                </a:solidFill>
              </a:rPr>
              <a:t>Increment 4</a:t>
            </a:r>
          </a:p>
        </p:txBody>
      </p:sp>
      <p:sp>
        <p:nvSpPr>
          <p:cNvPr id="16" name="Rectangle 15">
            <a:extLst>
              <a:ext uri="{FF2B5EF4-FFF2-40B4-BE49-F238E27FC236}">
                <a16:creationId xmlns:a16="http://schemas.microsoft.com/office/drawing/2014/main" id="{5EA91E3C-5176-CB63-EFD9-51782DE10EC9}"/>
              </a:ext>
            </a:extLst>
          </p:cNvPr>
          <p:cNvSpPr/>
          <p:nvPr/>
        </p:nvSpPr>
        <p:spPr>
          <a:xfrm>
            <a:off x="11757925" y="1929"/>
            <a:ext cx="4953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7" name="TextBox 16">
            <a:extLst>
              <a:ext uri="{FF2B5EF4-FFF2-40B4-BE49-F238E27FC236}">
                <a16:creationId xmlns:a16="http://schemas.microsoft.com/office/drawing/2014/main" id="{5197BE42-F089-1B71-B12C-B27C15F5011A}"/>
              </a:ext>
            </a:extLst>
          </p:cNvPr>
          <p:cNvSpPr txBox="1"/>
          <p:nvPr/>
        </p:nvSpPr>
        <p:spPr>
          <a:xfrm rot="16200000">
            <a:off x="11285351" y="5366483"/>
            <a:ext cx="1440459" cy="369332"/>
          </a:xfrm>
          <a:prstGeom prst="rect">
            <a:avLst/>
          </a:prstGeom>
          <a:solidFill>
            <a:schemeClr val="tx1"/>
          </a:solidFill>
        </p:spPr>
        <p:txBody>
          <a:bodyPr wrap="none" rtlCol="0">
            <a:spAutoFit/>
          </a:bodyPr>
          <a:lstStyle/>
          <a:p>
            <a:r>
              <a:rPr lang="en-US" b="1" dirty="0">
                <a:solidFill>
                  <a:schemeClr val="bg1"/>
                </a:solidFill>
              </a:rPr>
              <a:t>Increment 5</a:t>
            </a:r>
          </a:p>
        </p:txBody>
      </p:sp>
      <p:sp>
        <p:nvSpPr>
          <p:cNvPr id="18" name="Rectangle 17">
            <a:extLst>
              <a:ext uri="{FF2B5EF4-FFF2-40B4-BE49-F238E27FC236}">
                <a16:creationId xmlns:a16="http://schemas.microsoft.com/office/drawing/2014/main" id="{B4F6D2E7-A4C8-1F62-E227-EC6ED7C112BD}"/>
              </a:ext>
            </a:extLst>
          </p:cNvPr>
          <p:cNvSpPr/>
          <p:nvPr/>
        </p:nvSpPr>
        <p:spPr>
          <a:xfrm>
            <a:off x="12280127" y="0"/>
            <a:ext cx="4953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9" name="TextBox 18">
            <a:extLst>
              <a:ext uri="{FF2B5EF4-FFF2-40B4-BE49-F238E27FC236}">
                <a16:creationId xmlns:a16="http://schemas.microsoft.com/office/drawing/2014/main" id="{E7D2C818-5A43-8533-0205-290A23200FF0}"/>
              </a:ext>
            </a:extLst>
          </p:cNvPr>
          <p:cNvSpPr txBox="1"/>
          <p:nvPr/>
        </p:nvSpPr>
        <p:spPr>
          <a:xfrm rot="16200000">
            <a:off x="11807553" y="5364554"/>
            <a:ext cx="1440459" cy="369332"/>
          </a:xfrm>
          <a:prstGeom prst="rect">
            <a:avLst/>
          </a:prstGeom>
          <a:solidFill>
            <a:schemeClr val="accent5">
              <a:lumMod val="50000"/>
            </a:schemeClr>
          </a:solidFill>
        </p:spPr>
        <p:txBody>
          <a:bodyPr wrap="none" rtlCol="0">
            <a:spAutoFit/>
          </a:bodyPr>
          <a:lstStyle/>
          <a:p>
            <a:r>
              <a:rPr lang="en-US" b="1" dirty="0">
                <a:solidFill>
                  <a:schemeClr val="bg1"/>
                </a:solidFill>
              </a:rPr>
              <a:t>Increment 6</a:t>
            </a:r>
          </a:p>
        </p:txBody>
      </p:sp>
    </p:spTree>
    <p:extLst>
      <p:ext uri="{BB962C8B-B14F-4D97-AF65-F5344CB8AC3E}">
        <p14:creationId xmlns:p14="http://schemas.microsoft.com/office/powerpoint/2010/main" val="15685678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B7C946EB-4E83-4211-A9CE-B93175C2A4BC}"/>
              </a:ext>
            </a:extLst>
          </p:cNvPr>
          <p:cNvSpPr/>
          <p:nvPr/>
        </p:nvSpPr>
        <p:spPr>
          <a:xfrm>
            <a:off x="0" y="0"/>
            <a:ext cx="10706545" cy="6858000"/>
          </a:xfrm>
          <a:prstGeom prst="rect">
            <a:avLst/>
          </a:prstGeom>
          <a:solidFill>
            <a:srgbClr val="005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Rectangle 1">
            <a:extLst>
              <a:ext uri="{FF2B5EF4-FFF2-40B4-BE49-F238E27FC236}">
                <a16:creationId xmlns:a16="http://schemas.microsoft.com/office/drawing/2014/main" id="{19211572-1C3E-4C41-8745-1911185053CE}"/>
              </a:ext>
            </a:extLst>
          </p:cNvPr>
          <p:cNvSpPr/>
          <p:nvPr/>
        </p:nvSpPr>
        <p:spPr>
          <a:xfrm>
            <a:off x="-1611" y="-1929"/>
            <a:ext cx="11699251" cy="6858000"/>
          </a:xfrm>
          <a:prstGeom prst="rect">
            <a:avLst/>
          </a:prstGeom>
          <a:solidFill>
            <a:srgbClr val="A0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AB4C227-668D-4C79-BDC8-59A15F6514D2}"/>
              </a:ext>
            </a:extLst>
          </p:cNvPr>
          <p:cNvGrpSpPr/>
          <p:nvPr/>
        </p:nvGrpSpPr>
        <p:grpSpPr>
          <a:xfrm>
            <a:off x="626680" y="1378844"/>
            <a:ext cx="10215531" cy="3005906"/>
            <a:chOff x="626680" y="-78435"/>
            <a:chExt cx="10215531" cy="3005906"/>
          </a:xfrm>
        </p:grpSpPr>
        <p:sp>
          <p:nvSpPr>
            <p:cNvPr id="36" name="Login desc">
              <a:extLst>
                <a:ext uri="{FF2B5EF4-FFF2-40B4-BE49-F238E27FC236}">
                  <a16:creationId xmlns:a16="http://schemas.microsoft.com/office/drawing/2014/main" id="{E5422288-CBED-4DB8-BAA2-25905570FAAC}"/>
                </a:ext>
              </a:extLst>
            </p:cNvPr>
            <p:cNvSpPr txBox="1"/>
            <p:nvPr/>
          </p:nvSpPr>
          <p:spPr>
            <a:xfrm>
              <a:off x="626680" y="1360439"/>
              <a:ext cx="10215531" cy="1567032"/>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solidFill>
                    <a:schemeClr val="bg1"/>
                  </a:solidFill>
                </a:rPr>
                <a:t>Complete backend development</a:t>
              </a:r>
            </a:p>
            <a:p>
              <a:pPr marL="285750" indent="-285750">
                <a:lnSpc>
                  <a:spcPct val="150000"/>
                </a:lnSpc>
                <a:buFont typeface="Arial" panose="020B0604020202020204" pitchFamily="34" charset="0"/>
                <a:buChar char="•"/>
              </a:pPr>
              <a:r>
                <a:rPr lang="en-US" sz="2200" b="1" dirty="0">
                  <a:solidFill>
                    <a:schemeClr val="bg1"/>
                  </a:solidFill>
                  <a:ea typeface="+mn-lt"/>
                  <a:cs typeface="+mn-lt"/>
                </a:rPr>
                <a:t>Integrate APIs for AI, OCR and mobile application</a:t>
              </a:r>
              <a:endParaRPr lang="en-US" sz="2200" b="1" dirty="0">
                <a:solidFill>
                  <a:schemeClr val="bg1"/>
                </a:solidFill>
              </a:endParaRPr>
            </a:p>
            <a:p>
              <a:pPr marL="285750" indent="-285750">
                <a:lnSpc>
                  <a:spcPct val="150000"/>
                </a:lnSpc>
                <a:buFont typeface="Arial" panose="020B0604020202020204" pitchFamily="34" charset="0"/>
                <a:buChar char="•"/>
              </a:pPr>
              <a:r>
                <a:rPr lang="en-US" sz="2200" b="1" dirty="0">
                  <a:solidFill>
                    <a:schemeClr val="bg1"/>
                  </a:solidFill>
                  <a:ea typeface="+mn-lt"/>
                  <a:cs typeface="+mn-lt"/>
                </a:rPr>
                <a:t>Finalize AI model</a:t>
              </a:r>
              <a:endParaRPr lang="en-US" sz="2200" b="1" dirty="0">
                <a:solidFill>
                  <a:schemeClr val="bg1"/>
                </a:solidFill>
              </a:endParaRPr>
            </a:p>
          </p:txBody>
        </p:sp>
        <p:sp>
          <p:nvSpPr>
            <p:cNvPr id="7" name="Login">
              <a:extLst>
                <a:ext uri="{FF2B5EF4-FFF2-40B4-BE49-F238E27FC236}">
                  <a16:creationId xmlns:a16="http://schemas.microsoft.com/office/drawing/2014/main" id="{E30BD6C0-EC72-46D2-B920-01C817CAB848}"/>
                </a:ext>
              </a:extLst>
            </p:cNvPr>
            <p:cNvSpPr txBox="1"/>
            <p:nvPr/>
          </p:nvSpPr>
          <p:spPr>
            <a:xfrm>
              <a:off x="639718" y="-78435"/>
              <a:ext cx="4079963" cy="861774"/>
            </a:xfrm>
            <a:prstGeom prst="rect">
              <a:avLst/>
            </a:prstGeom>
            <a:noFill/>
          </p:spPr>
          <p:txBody>
            <a:bodyPr wrap="none" lIns="91440" tIns="45720" rIns="91440" bIns="45720" rtlCol="0" anchor="t">
              <a:spAutoFit/>
            </a:bodyPr>
            <a:lstStyle/>
            <a:p>
              <a:r>
                <a:rPr lang="en-US" sz="5000" b="1" dirty="0">
                  <a:solidFill>
                    <a:schemeClr val="bg1"/>
                  </a:solidFill>
                  <a:latin typeface="+mj-lt"/>
                </a:rPr>
                <a:t>INCREMENT 4</a:t>
              </a:r>
            </a:p>
          </p:txBody>
        </p:sp>
      </p:grpSp>
      <p:sp>
        <p:nvSpPr>
          <p:cNvPr id="13" name="TextBox 12">
            <a:extLst>
              <a:ext uri="{FF2B5EF4-FFF2-40B4-BE49-F238E27FC236}">
                <a16:creationId xmlns:a16="http://schemas.microsoft.com/office/drawing/2014/main" id="{55D0563B-CB6B-494F-B48A-78A648B6699A}"/>
              </a:ext>
            </a:extLst>
          </p:cNvPr>
          <p:cNvSpPr txBox="1"/>
          <p:nvPr/>
        </p:nvSpPr>
        <p:spPr>
          <a:xfrm rot="16200000">
            <a:off x="-300999" y="5341401"/>
            <a:ext cx="1486946" cy="369332"/>
          </a:xfrm>
          <a:prstGeom prst="rect">
            <a:avLst/>
          </a:prstGeom>
          <a:noFill/>
        </p:spPr>
        <p:txBody>
          <a:bodyPr wrap="none" rtlCol="0">
            <a:spAutoFit/>
          </a:bodyPr>
          <a:lstStyle/>
          <a:p>
            <a:r>
              <a:rPr lang="en-US" b="1" dirty="0">
                <a:solidFill>
                  <a:schemeClr val="bg1"/>
                </a:solidFill>
              </a:rPr>
              <a:t>Increment  4</a:t>
            </a:r>
          </a:p>
        </p:txBody>
      </p:sp>
      <p:sp>
        <p:nvSpPr>
          <p:cNvPr id="6" name="Rectangle 5">
            <a:extLst>
              <a:ext uri="{FF2B5EF4-FFF2-40B4-BE49-F238E27FC236}">
                <a16:creationId xmlns:a16="http://schemas.microsoft.com/office/drawing/2014/main" id="{3CB2227F-6E1E-4BF0-4D1C-F964AC681664}"/>
              </a:ext>
            </a:extLst>
          </p:cNvPr>
          <p:cNvSpPr/>
          <p:nvPr/>
        </p:nvSpPr>
        <p:spPr>
          <a:xfrm>
            <a:off x="11202340" y="1929"/>
            <a:ext cx="4953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8" name="TextBox 7">
            <a:extLst>
              <a:ext uri="{FF2B5EF4-FFF2-40B4-BE49-F238E27FC236}">
                <a16:creationId xmlns:a16="http://schemas.microsoft.com/office/drawing/2014/main" id="{559057F7-937B-34B2-A14C-48D970846FC1}"/>
              </a:ext>
            </a:extLst>
          </p:cNvPr>
          <p:cNvSpPr txBox="1"/>
          <p:nvPr/>
        </p:nvSpPr>
        <p:spPr>
          <a:xfrm rot="16200000">
            <a:off x="10729766" y="5366483"/>
            <a:ext cx="1440459" cy="369332"/>
          </a:xfrm>
          <a:prstGeom prst="rect">
            <a:avLst/>
          </a:prstGeom>
          <a:solidFill>
            <a:schemeClr val="tx1"/>
          </a:solidFill>
        </p:spPr>
        <p:txBody>
          <a:bodyPr wrap="none" rtlCol="0">
            <a:spAutoFit/>
          </a:bodyPr>
          <a:lstStyle/>
          <a:p>
            <a:r>
              <a:rPr lang="en-US" b="1" dirty="0">
                <a:solidFill>
                  <a:schemeClr val="bg1"/>
                </a:solidFill>
              </a:rPr>
              <a:t>Increment 5</a:t>
            </a:r>
          </a:p>
        </p:txBody>
      </p:sp>
      <p:sp>
        <p:nvSpPr>
          <p:cNvPr id="14" name="Rectangle 13">
            <a:extLst>
              <a:ext uri="{FF2B5EF4-FFF2-40B4-BE49-F238E27FC236}">
                <a16:creationId xmlns:a16="http://schemas.microsoft.com/office/drawing/2014/main" id="{989AC5B0-B2B4-F6DB-C595-6AD10052F44E}"/>
              </a:ext>
            </a:extLst>
          </p:cNvPr>
          <p:cNvSpPr/>
          <p:nvPr/>
        </p:nvSpPr>
        <p:spPr>
          <a:xfrm>
            <a:off x="11701392" y="0"/>
            <a:ext cx="4953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5" name="TextBox 14">
            <a:extLst>
              <a:ext uri="{FF2B5EF4-FFF2-40B4-BE49-F238E27FC236}">
                <a16:creationId xmlns:a16="http://schemas.microsoft.com/office/drawing/2014/main" id="{5ED7574D-5512-1960-E2A3-952D86D8B182}"/>
              </a:ext>
            </a:extLst>
          </p:cNvPr>
          <p:cNvSpPr txBox="1"/>
          <p:nvPr/>
        </p:nvSpPr>
        <p:spPr>
          <a:xfrm rot="16200000">
            <a:off x="11228818" y="5364554"/>
            <a:ext cx="1440459" cy="369332"/>
          </a:xfrm>
          <a:prstGeom prst="rect">
            <a:avLst/>
          </a:prstGeom>
          <a:solidFill>
            <a:schemeClr val="accent5">
              <a:lumMod val="50000"/>
            </a:schemeClr>
          </a:solidFill>
        </p:spPr>
        <p:txBody>
          <a:bodyPr wrap="none" rtlCol="0">
            <a:spAutoFit/>
          </a:bodyPr>
          <a:lstStyle/>
          <a:p>
            <a:r>
              <a:rPr lang="en-US" b="1" dirty="0">
                <a:solidFill>
                  <a:schemeClr val="bg1"/>
                </a:solidFill>
              </a:rPr>
              <a:t>Increment 6</a:t>
            </a:r>
          </a:p>
        </p:txBody>
      </p:sp>
    </p:spTree>
    <p:extLst>
      <p:ext uri="{BB962C8B-B14F-4D97-AF65-F5344CB8AC3E}">
        <p14:creationId xmlns:p14="http://schemas.microsoft.com/office/powerpoint/2010/main" val="14404012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D895B-849F-BBBD-5C2B-97CE9E41303C}"/>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DCFCA2E-A090-469D-1B93-8CD09D3A416F}"/>
              </a:ext>
            </a:extLst>
          </p:cNvPr>
          <p:cNvSpPr/>
          <p:nvPr/>
        </p:nvSpPr>
        <p:spPr>
          <a:xfrm>
            <a:off x="-106" y="0"/>
            <a:ext cx="11699251" cy="6858000"/>
          </a:xfrm>
          <a:prstGeom prst="rect">
            <a:avLst/>
          </a:prstGeom>
          <a:solidFill>
            <a:srgbClr val="A0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2DC9C6-8DE3-F0FE-A3EE-F902423F6D3C}"/>
              </a:ext>
            </a:extLst>
          </p:cNvPr>
          <p:cNvSpPr/>
          <p:nvPr/>
        </p:nvSpPr>
        <p:spPr>
          <a:xfrm>
            <a:off x="-22504" y="0"/>
            <a:ext cx="117440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8" name="TextBox 7">
            <a:extLst>
              <a:ext uri="{FF2B5EF4-FFF2-40B4-BE49-F238E27FC236}">
                <a16:creationId xmlns:a16="http://schemas.microsoft.com/office/drawing/2014/main" id="{441D15AD-34E3-3547-B742-98FD0CE0B65F}"/>
              </a:ext>
            </a:extLst>
          </p:cNvPr>
          <p:cNvSpPr txBox="1"/>
          <p:nvPr/>
        </p:nvSpPr>
        <p:spPr>
          <a:xfrm rot="16200000">
            <a:off x="-277771" y="5366483"/>
            <a:ext cx="1440459" cy="369332"/>
          </a:xfrm>
          <a:prstGeom prst="rect">
            <a:avLst/>
          </a:prstGeom>
          <a:solidFill>
            <a:schemeClr val="tx1"/>
          </a:solidFill>
        </p:spPr>
        <p:txBody>
          <a:bodyPr wrap="none" rtlCol="0">
            <a:spAutoFit/>
          </a:bodyPr>
          <a:lstStyle/>
          <a:p>
            <a:r>
              <a:rPr lang="en-US" b="1" dirty="0">
                <a:solidFill>
                  <a:schemeClr val="bg1"/>
                </a:solidFill>
              </a:rPr>
              <a:t>Increment 5</a:t>
            </a:r>
          </a:p>
        </p:txBody>
      </p:sp>
      <p:sp>
        <p:nvSpPr>
          <p:cNvPr id="10" name="Rectangle 9">
            <a:extLst>
              <a:ext uri="{FF2B5EF4-FFF2-40B4-BE49-F238E27FC236}">
                <a16:creationId xmlns:a16="http://schemas.microsoft.com/office/drawing/2014/main" id="{2BBEAE5D-CD09-C7BE-818A-B9B2E8B9EA19}"/>
              </a:ext>
            </a:extLst>
          </p:cNvPr>
          <p:cNvSpPr/>
          <p:nvPr/>
        </p:nvSpPr>
        <p:spPr>
          <a:xfrm>
            <a:off x="11701392" y="0"/>
            <a:ext cx="495300"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1" name="TextBox 10">
            <a:extLst>
              <a:ext uri="{FF2B5EF4-FFF2-40B4-BE49-F238E27FC236}">
                <a16:creationId xmlns:a16="http://schemas.microsoft.com/office/drawing/2014/main" id="{45D2D0FB-725B-3729-1B1E-3A00D345B9B2}"/>
              </a:ext>
            </a:extLst>
          </p:cNvPr>
          <p:cNvSpPr txBox="1"/>
          <p:nvPr/>
        </p:nvSpPr>
        <p:spPr>
          <a:xfrm rot="16200000">
            <a:off x="11228818" y="5364554"/>
            <a:ext cx="1440459" cy="369332"/>
          </a:xfrm>
          <a:prstGeom prst="rect">
            <a:avLst/>
          </a:prstGeom>
          <a:solidFill>
            <a:schemeClr val="accent5">
              <a:lumMod val="50000"/>
            </a:schemeClr>
          </a:solidFill>
        </p:spPr>
        <p:txBody>
          <a:bodyPr wrap="none" rtlCol="0">
            <a:spAutoFit/>
          </a:bodyPr>
          <a:lstStyle/>
          <a:p>
            <a:r>
              <a:rPr lang="en-US" b="1" dirty="0">
                <a:solidFill>
                  <a:schemeClr val="bg1"/>
                </a:solidFill>
              </a:rPr>
              <a:t>Increment 6</a:t>
            </a:r>
          </a:p>
        </p:txBody>
      </p:sp>
      <p:grpSp>
        <p:nvGrpSpPr>
          <p:cNvPr id="3" name="Group 2">
            <a:extLst>
              <a:ext uri="{FF2B5EF4-FFF2-40B4-BE49-F238E27FC236}">
                <a16:creationId xmlns:a16="http://schemas.microsoft.com/office/drawing/2014/main" id="{2EE963BF-5A1C-090D-B826-E2DC5333A355}"/>
              </a:ext>
            </a:extLst>
          </p:cNvPr>
          <p:cNvGrpSpPr/>
          <p:nvPr/>
        </p:nvGrpSpPr>
        <p:grpSpPr>
          <a:xfrm>
            <a:off x="609600" y="1386126"/>
            <a:ext cx="10215531" cy="2826390"/>
            <a:chOff x="609600" y="-71153"/>
            <a:chExt cx="10215531" cy="2826390"/>
          </a:xfrm>
        </p:grpSpPr>
        <p:sp>
          <p:nvSpPr>
            <p:cNvPr id="5" name="Login desc">
              <a:extLst>
                <a:ext uri="{FF2B5EF4-FFF2-40B4-BE49-F238E27FC236}">
                  <a16:creationId xmlns:a16="http://schemas.microsoft.com/office/drawing/2014/main" id="{348B8560-5AC1-70EB-6FBC-EEF61445801C}"/>
                </a:ext>
              </a:extLst>
            </p:cNvPr>
            <p:cNvSpPr txBox="1"/>
            <p:nvPr/>
          </p:nvSpPr>
          <p:spPr>
            <a:xfrm>
              <a:off x="609600" y="1188205"/>
              <a:ext cx="10215531" cy="1567032"/>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solidFill>
                    <a:schemeClr val="bg1"/>
                  </a:solidFill>
                  <a:ea typeface="+mn-lt"/>
                  <a:cs typeface="+mn-lt"/>
                </a:rPr>
                <a:t>Integrate AI, mobile app and backend</a:t>
              </a:r>
              <a:endParaRPr lang="en-US" sz="2200" b="1" dirty="0">
                <a:solidFill>
                  <a:schemeClr val="bg1"/>
                </a:solidFill>
              </a:endParaRPr>
            </a:p>
            <a:p>
              <a:pPr marL="285750" indent="-285750">
                <a:lnSpc>
                  <a:spcPct val="150000"/>
                </a:lnSpc>
                <a:buFont typeface="Arial" panose="020B0604020202020204" pitchFamily="34" charset="0"/>
                <a:buChar char="•"/>
              </a:pPr>
              <a:r>
                <a:rPr lang="en-US" sz="2200" b="1" dirty="0">
                  <a:solidFill>
                    <a:schemeClr val="bg1"/>
                  </a:solidFill>
                  <a:ea typeface="+mn-lt"/>
                  <a:cs typeface="+mn-lt"/>
                </a:rPr>
                <a:t>Implement feedback collection system</a:t>
              </a:r>
              <a:endParaRPr lang="en-US" sz="2200" b="1" dirty="0">
                <a:solidFill>
                  <a:schemeClr val="bg1"/>
                </a:solidFill>
              </a:endParaRPr>
            </a:p>
            <a:p>
              <a:pPr marL="285750" indent="-285750">
                <a:lnSpc>
                  <a:spcPct val="150000"/>
                </a:lnSpc>
                <a:buFont typeface="Arial" panose="020B0604020202020204" pitchFamily="34" charset="0"/>
                <a:buChar char="•"/>
              </a:pPr>
              <a:endParaRPr lang="en-US" sz="2200" b="1" dirty="0">
                <a:solidFill>
                  <a:schemeClr val="bg1"/>
                </a:solidFill>
              </a:endParaRPr>
            </a:p>
          </p:txBody>
        </p:sp>
        <p:sp>
          <p:nvSpPr>
            <p:cNvPr id="12" name="Login">
              <a:extLst>
                <a:ext uri="{FF2B5EF4-FFF2-40B4-BE49-F238E27FC236}">
                  <a16:creationId xmlns:a16="http://schemas.microsoft.com/office/drawing/2014/main" id="{0EDD8618-200A-930A-810B-DD6EA63F8967}"/>
                </a:ext>
              </a:extLst>
            </p:cNvPr>
            <p:cNvSpPr txBox="1"/>
            <p:nvPr/>
          </p:nvSpPr>
          <p:spPr>
            <a:xfrm>
              <a:off x="609600" y="-71153"/>
              <a:ext cx="4079963" cy="861774"/>
            </a:xfrm>
            <a:prstGeom prst="rect">
              <a:avLst/>
            </a:prstGeom>
            <a:noFill/>
          </p:spPr>
          <p:txBody>
            <a:bodyPr wrap="none" lIns="91440" tIns="45720" rIns="91440" bIns="45720" rtlCol="0" anchor="t">
              <a:spAutoFit/>
            </a:bodyPr>
            <a:lstStyle/>
            <a:p>
              <a:r>
                <a:rPr lang="en-US" sz="5000" b="1" dirty="0">
                  <a:solidFill>
                    <a:schemeClr val="bg1"/>
                  </a:solidFill>
                  <a:latin typeface="+mj-lt"/>
                </a:rPr>
                <a:t>INCREMENT 5</a:t>
              </a:r>
            </a:p>
          </p:txBody>
        </p:sp>
      </p:grpSp>
    </p:spTree>
    <p:extLst>
      <p:ext uri="{BB962C8B-B14F-4D97-AF65-F5344CB8AC3E}">
        <p14:creationId xmlns:p14="http://schemas.microsoft.com/office/powerpoint/2010/main" val="4479325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9891-AA00-C886-46E3-B103EEC76199}"/>
            </a:ext>
          </a:extLst>
        </p:cNvPr>
        <p:cNvGrpSpPr/>
        <p:nvPr/>
      </p:nvGrpSpPr>
      <p:grpSpPr>
        <a:xfrm>
          <a:off x="0" y="0"/>
          <a:ext cx="0" cy="0"/>
          <a:chOff x="0" y="0"/>
          <a:chExt cx="0" cy="0"/>
        </a:xfrm>
      </p:grpSpPr>
      <p:sp>
        <p:nvSpPr>
          <p:cNvPr id="54" name="TextBox 53">
            <a:extLst>
              <a:ext uri="{FF2B5EF4-FFF2-40B4-BE49-F238E27FC236}">
                <a16:creationId xmlns:a16="http://schemas.microsoft.com/office/drawing/2014/main" id="{17216975-7EB0-5BF8-AEFB-C0C2966528D3}"/>
              </a:ext>
            </a:extLst>
          </p:cNvPr>
          <p:cNvSpPr txBox="1"/>
          <p:nvPr/>
        </p:nvSpPr>
        <p:spPr>
          <a:xfrm rot="16200000">
            <a:off x="-710408" y="5416029"/>
            <a:ext cx="1933543" cy="369332"/>
          </a:xfrm>
          <a:prstGeom prst="rect">
            <a:avLst/>
          </a:prstGeom>
          <a:noFill/>
        </p:spPr>
        <p:txBody>
          <a:bodyPr wrap="none" rtlCol="0">
            <a:spAutoFit/>
          </a:bodyPr>
          <a:lstStyle/>
          <a:p>
            <a:r>
              <a:rPr lang="en-US" b="1">
                <a:solidFill>
                  <a:schemeClr val="bg1"/>
                </a:solidFill>
              </a:rPr>
              <a:t>Implementation</a:t>
            </a:r>
          </a:p>
        </p:txBody>
      </p:sp>
      <p:sp>
        <p:nvSpPr>
          <p:cNvPr id="6" name="Rectangle 5">
            <a:extLst>
              <a:ext uri="{FF2B5EF4-FFF2-40B4-BE49-F238E27FC236}">
                <a16:creationId xmlns:a16="http://schemas.microsoft.com/office/drawing/2014/main" id="{238B672B-3B5D-C66E-A601-7C0A13C17F9F}"/>
              </a:ext>
            </a:extLst>
          </p:cNvPr>
          <p:cNvSpPr/>
          <p:nvPr/>
        </p:nvSpPr>
        <p:spPr>
          <a:xfrm>
            <a:off x="0" y="0"/>
            <a:ext cx="117440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0" name="Rectangle 9">
            <a:extLst>
              <a:ext uri="{FF2B5EF4-FFF2-40B4-BE49-F238E27FC236}">
                <a16:creationId xmlns:a16="http://schemas.microsoft.com/office/drawing/2014/main" id="{EC732B6D-A2D7-6169-8CDB-C9C22E9CED0B}"/>
              </a:ext>
            </a:extLst>
          </p:cNvPr>
          <p:cNvSpPr/>
          <p:nvPr/>
        </p:nvSpPr>
        <p:spPr>
          <a:xfrm>
            <a:off x="-51098" y="0"/>
            <a:ext cx="1224309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11" name="TextBox 10">
            <a:extLst>
              <a:ext uri="{FF2B5EF4-FFF2-40B4-BE49-F238E27FC236}">
                <a16:creationId xmlns:a16="http://schemas.microsoft.com/office/drawing/2014/main" id="{DF78F687-628E-E78E-623A-D97A4591881E}"/>
              </a:ext>
            </a:extLst>
          </p:cNvPr>
          <p:cNvSpPr txBox="1"/>
          <p:nvPr/>
        </p:nvSpPr>
        <p:spPr>
          <a:xfrm rot="16200000">
            <a:off x="-288007" y="5364554"/>
            <a:ext cx="1440459" cy="369332"/>
          </a:xfrm>
          <a:prstGeom prst="rect">
            <a:avLst/>
          </a:prstGeom>
          <a:solidFill>
            <a:schemeClr val="accent5">
              <a:lumMod val="50000"/>
            </a:schemeClr>
          </a:solidFill>
        </p:spPr>
        <p:txBody>
          <a:bodyPr wrap="none" rtlCol="0">
            <a:spAutoFit/>
          </a:bodyPr>
          <a:lstStyle/>
          <a:p>
            <a:r>
              <a:rPr lang="en-US" b="1" dirty="0">
                <a:solidFill>
                  <a:schemeClr val="bg1"/>
                </a:solidFill>
              </a:rPr>
              <a:t>Increment 6</a:t>
            </a:r>
          </a:p>
        </p:txBody>
      </p:sp>
      <p:grpSp>
        <p:nvGrpSpPr>
          <p:cNvPr id="4" name="Group 3">
            <a:extLst>
              <a:ext uri="{FF2B5EF4-FFF2-40B4-BE49-F238E27FC236}">
                <a16:creationId xmlns:a16="http://schemas.microsoft.com/office/drawing/2014/main" id="{5EE1AE75-CB6E-7E64-A0A8-FBE14CE38C38}"/>
              </a:ext>
            </a:extLst>
          </p:cNvPr>
          <p:cNvGrpSpPr/>
          <p:nvPr/>
        </p:nvGrpSpPr>
        <p:grpSpPr>
          <a:xfrm>
            <a:off x="609600" y="1484546"/>
            <a:ext cx="10215531" cy="2901886"/>
            <a:chOff x="609600" y="27267"/>
            <a:chExt cx="10215531" cy="2901886"/>
          </a:xfrm>
        </p:grpSpPr>
        <p:sp>
          <p:nvSpPr>
            <p:cNvPr id="7" name="Login desc">
              <a:extLst>
                <a:ext uri="{FF2B5EF4-FFF2-40B4-BE49-F238E27FC236}">
                  <a16:creationId xmlns:a16="http://schemas.microsoft.com/office/drawing/2014/main" id="{892303B2-8D47-6C2D-5106-F45D7D04F14A}"/>
                </a:ext>
              </a:extLst>
            </p:cNvPr>
            <p:cNvSpPr txBox="1"/>
            <p:nvPr/>
          </p:nvSpPr>
          <p:spPr>
            <a:xfrm>
              <a:off x="609600" y="1362121"/>
              <a:ext cx="10215531" cy="1567032"/>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solidFill>
                    <a:schemeClr val="bg1"/>
                  </a:solidFill>
                </a:rPr>
                <a:t>Complete system testing</a:t>
              </a:r>
            </a:p>
            <a:p>
              <a:pPr marL="285750" indent="-285750">
                <a:lnSpc>
                  <a:spcPct val="150000"/>
                </a:lnSpc>
                <a:buFont typeface="Arial" panose="020B0604020202020204" pitchFamily="34" charset="0"/>
                <a:buChar char="•"/>
              </a:pPr>
              <a:r>
                <a:rPr lang="en-US" sz="2200" b="1" dirty="0">
                  <a:solidFill>
                    <a:schemeClr val="bg1"/>
                  </a:solidFill>
                  <a:ea typeface="+mn-lt"/>
                  <a:cs typeface="+mn-lt"/>
                </a:rPr>
                <a:t>Identify &amp; fix bugs</a:t>
              </a:r>
              <a:endParaRPr lang="en-US" sz="2200" b="1" dirty="0">
                <a:solidFill>
                  <a:schemeClr val="bg1"/>
                </a:solidFill>
              </a:endParaRPr>
            </a:p>
            <a:p>
              <a:pPr marL="285750" indent="-285750">
                <a:lnSpc>
                  <a:spcPct val="150000"/>
                </a:lnSpc>
                <a:buFont typeface="Arial" panose="020B0604020202020204" pitchFamily="34" charset="0"/>
                <a:buChar char="•"/>
              </a:pPr>
              <a:r>
                <a:rPr lang="en-US" sz="2200" b="1" dirty="0">
                  <a:solidFill>
                    <a:schemeClr val="bg1"/>
                  </a:solidFill>
                  <a:ea typeface="+mn-lt"/>
                  <a:cs typeface="+mn-lt"/>
                </a:rPr>
                <a:t>Prepare deployment-ready build</a:t>
              </a:r>
              <a:endParaRPr lang="en-US" sz="2200" b="1" dirty="0">
                <a:solidFill>
                  <a:schemeClr val="bg1"/>
                </a:solidFill>
              </a:endParaRPr>
            </a:p>
          </p:txBody>
        </p:sp>
        <p:sp>
          <p:nvSpPr>
            <p:cNvPr id="9" name="Login">
              <a:extLst>
                <a:ext uri="{FF2B5EF4-FFF2-40B4-BE49-F238E27FC236}">
                  <a16:creationId xmlns:a16="http://schemas.microsoft.com/office/drawing/2014/main" id="{CEE6B878-EE45-BBBA-717D-8EE30B2147DB}"/>
                </a:ext>
              </a:extLst>
            </p:cNvPr>
            <p:cNvSpPr txBox="1"/>
            <p:nvPr/>
          </p:nvSpPr>
          <p:spPr>
            <a:xfrm>
              <a:off x="609600" y="27267"/>
              <a:ext cx="4079963" cy="861774"/>
            </a:xfrm>
            <a:prstGeom prst="rect">
              <a:avLst/>
            </a:prstGeom>
            <a:noFill/>
          </p:spPr>
          <p:txBody>
            <a:bodyPr wrap="none" lIns="91440" tIns="45720" rIns="91440" bIns="45720" rtlCol="0" anchor="t">
              <a:spAutoFit/>
            </a:bodyPr>
            <a:lstStyle/>
            <a:p>
              <a:r>
                <a:rPr lang="en-US" sz="5000" b="1" dirty="0">
                  <a:solidFill>
                    <a:schemeClr val="bg1"/>
                  </a:solidFill>
                  <a:latin typeface="+mj-lt"/>
                </a:rPr>
                <a:t>INCREMENT 6</a:t>
              </a:r>
            </a:p>
          </p:txBody>
        </p:sp>
      </p:grpSp>
    </p:spTree>
    <p:extLst>
      <p:ext uri="{BB962C8B-B14F-4D97-AF65-F5344CB8AC3E}">
        <p14:creationId xmlns:p14="http://schemas.microsoft.com/office/powerpoint/2010/main" val="17748779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health misinformation process&#10;&#10;AI-generated content may be incorrect.">
            <a:extLst>
              <a:ext uri="{FF2B5EF4-FFF2-40B4-BE49-F238E27FC236}">
                <a16:creationId xmlns:a16="http://schemas.microsoft.com/office/drawing/2014/main" id="{BBB99F9D-0003-D37E-B66F-6AFAB3A6EF2D}"/>
              </a:ext>
            </a:extLst>
          </p:cNvPr>
          <p:cNvPicPr>
            <a:picLocks noChangeAspect="1"/>
          </p:cNvPicPr>
          <p:nvPr/>
        </p:nvPicPr>
        <p:blipFill>
          <a:blip r:embed="rId2"/>
          <a:stretch>
            <a:fillRect/>
          </a:stretch>
        </p:blipFill>
        <p:spPr>
          <a:xfrm>
            <a:off x="3556832" y="0"/>
            <a:ext cx="8635168" cy="6843622"/>
          </a:xfrm>
          <a:prstGeom prst="rect">
            <a:avLst/>
          </a:prstGeom>
        </p:spPr>
      </p:pic>
      <p:sp>
        <p:nvSpPr>
          <p:cNvPr id="6" name="TextBox 5">
            <a:extLst>
              <a:ext uri="{FF2B5EF4-FFF2-40B4-BE49-F238E27FC236}">
                <a16:creationId xmlns:a16="http://schemas.microsoft.com/office/drawing/2014/main" id="{77827D49-3B44-A63F-3688-542E32A1D1CE}"/>
              </a:ext>
            </a:extLst>
          </p:cNvPr>
          <p:cNvSpPr txBox="1"/>
          <p:nvPr/>
        </p:nvSpPr>
        <p:spPr>
          <a:xfrm>
            <a:off x="640338" y="2767281"/>
            <a:ext cx="2444772" cy="1323439"/>
          </a:xfrm>
          <a:prstGeom prst="rect">
            <a:avLst/>
          </a:prstGeom>
          <a:noFill/>
        </p:spPr>
        <p:txBody>
          <a:bodyPr wrap="none" lIns="91440" tIns="45720" rIns="91440" bIns="45720" rtlCol="0" anchor="t">
            <a:spAutoFit/>
          </a:bodyPr>
          <a:lstStyle/>
          <a:p>
            <a:r>
              <a:rPr lang="en-US" sz="4000" b="1" dirty="0">
                <a:solidFill>
                  <a:srgbClr val="000000"/>
                </a:solidFill>
                <a:latin typeface="+mj-lt"/>
              </a:rPr>
              <a:t>Use-Case </a:t>
            </a:r>
            <a:endParaRPr lang="en-US" dirty="0"/>
          </a:p>
          <a:p>
            <a:r>
              <a:rPr lang="en-US" sz="4000" b="1" dirty="0">
                <a:solidFill>
                  <a:srgbClr val="000000"/>
                </a:solidFill>
                <a:latin typeface="+mj-lt"/>
              </a:rPr>
              <a:t>Diagram</a:t>
            </a:r>
            <a:endParaRPr lang="en-US" dirty="0"/>
          </a:p>
        </p:txBody>
      </p:sp>
      <p:sp>
        <p:nvSpPr>
          <p:cNvPr id="7" name="TextBox 6">
            <a:extLst>
              <a:ext uri="{FF2B5EF4-FFF2-40B4-BE49-F238E27FC236}">
                <a16:creationId xmlns:a16="http://schemas.microsoft.com/office/drawing/2014/main" id="{5BF7FB53-101B-5189-59D4-3D64350C45E9}"/>
              </a:ext>
            </a:extLst>
          </p:cNvPr>
          <p:cNvSpPr txBox="1"/>
          <p:nvPr/>
        </p:nvSpPr>
        <p:spPr>
          <a:xfrm>
            <a:off x="609600" y="6882081"/>
            <a:ext cx="3515360" cy="1323439"/>
          </a:xfrm>
          <a:prstGeom prst="rect">
            <a:avLst/>
          </a:prstGeom>
          <a:noFill/>
        </p:spPr>
        <p:txBody>
          <a:bodyPr wrap="square" lIns="91440" tIns="45720" rIns="91440" bIns="45720" rtlCol="0" anchor="t">
            <a:spAutoFit/>
          </a:bodyPr>
          <a:lstStyle/>
          <a:p>
            <a:r>
              <a:rPr lang="en-US" sz="4000" b="1" dirty="0">
                <a:solidFill>
                  <a:srgbClr val="000000"/>
                </a:solidFill>
                <a:latin typeface="+mj-lt"/>
              </a:rPr>
              <a:t>Level-0 DFD Diagram</a:t>
            </a:r>
            <a:endParaRPr lang="en-US" dirty="0"/>
          </a:p>
        </p:txBody>
      </p:sp>
    </p:spTree>
    <p:extLst>
      <p:ext uri="{BB962C8B-B14F-4D97-AF65-F5344CB8AC3E}">
        <p14:creationId xmlns:p14="http://schemas.microsoft.com/office/powerpoint/2010/main" val="646181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23231-6637-04F2-2CB9-7A9517979D6D}"/>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9EFD11A8-C994-2CC5-2291-21CB50164C47}"/>
              </a:ext>
            </a:extLst>
          </p:cNvPr>
          <p:cNvSpPr txBox="1"/>
          <p:nvPr/>
        </p:nvSpPr>
        <p:spPr>
          <a:xfrm>
            <a:off x="609600" y="-1323439"/>
            <a:ext cx="2444772" cy="1323439"/>
          </a:xfrm>
          <a:prstGeom prst="rect">
            <a:avLst/>
          </a:prstGeom>
          <a:noFill/>
        </p:spPr>
        <p:txBody>
          <a:bodyPr wrap="none" lIns="91440" tIns="45720" rIns="91440" bIns="45720" rtlCol="0" anchor="t">
            <a:spAutoFit/>
          </a:bodyPr>
          <a:lstStyle/>
          <a:p>
            <a:r>
              <a:rPr lang="en-US" sz="4000" b="1" dirty="0">
                <a:solidFill>
                  <a:srgbClr val="000000"/>
                </a:solidFill>
                <a:latin typeface="+mj-lt"/>
              </a:rPr>
              <a:t>Use-Case </a:t>
            </a:r>
            <a:endParaRPr lang="en-US" dirty="0"/>
          </a:p>
          <a:p>
            <a:r>
              <a:rPr lang="en-US" sz="4000" b="1" dirty="0">
                <a:solidFill>
                  <a:srgbClr val="000000"/>
                </a:solidFill>
                <a:latin typeface="+mj-lt"/>
              </a:rPr>
              <a:t>Diagram</a:t>
            </a:r>
            <a:endParaRPr lang="en-US" dirty="0"/>
          </a:p>
        </p:txBody>
      </p:sp>
      <p:sp>
        <p:nvSpPr>
          <p:cNvPr id="3" name="TextBox 2">
            <a:extLst>
              <a:ext uri="{FF2B5EF4-FFF2-40B4-BE49-F238E27FC236}">
                <a16:creationId xmlns:a16="http://schemas.microsoft.com/office/drawing/2014/main" id="{345C0251-B803-4BC0-1D90-8EF79A704C78}"/>
              </a:ext>
            </a:extLst>
          </p:cNvPr>
          <p:cNvSpPr txBox="1"/>
          <p:nvPr/>
        </p:nvSpPr>
        <p:spPr>
          <a:xfrm>
            <a:off x="609600" y="2767281"/>
            <a:ext cx="3515360" cy="1323439"/>
          </a:xfrm>
          <a:prstGeom prst="rect">
            <a:avLst/>
          </a:prstGeom>
          <a:noFill/>
        </p:spPr>
        <p:txBody>
          <a:bodyPr wrap="square" lIns="91440" tIns="45720" rIns="91440" bIns="45720" rtlCol="0" anchor="t">
            <a:spAutoFit/>
          </a:bodyPr>
          <a:lstStyle/>
          <a:p>
            <a:r>
              <a:rPr lang="en-US" sz="4000" b="1" dirty="0">
                <a:solidFill>
                  <a:srgbClr val="000000"/>
                </a:solidFill>
                <a:latin typeface="+mj-lt"/>
              </a:rPr>
              <a:t>Level-0 DFD Diagram</a:t>
            </a:r>
            <a:endParaRPr lang="en-US" dirty="0"/>
          </a:p>
        </p:txBody>
      </p:sp>
      <p:pic>
        <p:nvPicPr>
          <p:cNvPr id="4" name="Picture 3" descr="A black background with white rectangles&#10;&#10;AI-generated content may be incorrect.">
            <a:extLst>
              <a:ext uri="{FF2B5EF4-FFF2-40B4-BE49-F238E27FC236}">
                <a16:creationId xmlns:a16="http://schemas.microsoft.com/office/drawing/2014/main" id="{3ED79B07-5F74-CC30-B7D1-C9535EA9FFF5}"/>
              </a:ext>
            </a:extLst>
          </p:cNvPr>
          <p:cNvPicPr>
            <a:picLocks noChangeAspect="1"/>
          </p:cNvPicPr>
          <p:nvPr/>
        </p:nvPicPr>
        <p:blipFill>
          <a:blip r:embed="rId2"/>
          <a:stretch>
            <a:fillRect/>
          </a:stretch>
        </p:blipFill>
        <p:spPr>
          <a:xfrm>
            <a:off x="4198732" y="0"/>
            <a:ext cx="7340863" cy="6858000"/>
          </a:xfrm>
          <a:prstGeom prst="rect">
            <a:avLst/>
          </a:prstGeom>
        </p:spPr>
      </p:pic>
      <p:sp>
        <p:nvSpPr>
          <p:cNvPr id="5" name="TextBox 4">
            <a:extLst>
              <a:ext uri="{FF2B5EF4-FFF2-40B4-BE49-F238E27FC236}">
                <a16:creationId xmlns:a16="http://schemas.microsoft.com/office/drawing/2014/main" id="{A4517858-424B-A2A6-6DF1-92B1D655E71A}"/>
              </a:ext>
            </a:extLst>
          </p:cNvPr>
          <p:cNvSpPr txBox="1"/>
          <p:nvPr/>
        </p:nvSpPr>
        <p:spPr>
          <a:xfrm>
            <a:off x="609600" y="6893803"/>
            <a:ext cx="2928499" cy="1323439"/>
          </a:xfrm>
          <a:prstGeom prst="rect">
            <a:avLst/>
          </a:prstGeom>
          <a:noFill/>
        </p:spPr>
        <p:txBody>
          <a:bodyPr wrap="square" lIns="91440" tIns="45720" rIns="91440" bIns="45720" rtlCol="0" anchor="t">
            <a:spAutoFit/>
          </a:bodyPr>
          <a:lstStyle/>
          <a:p>
            <a:r>
              <a:rPr lang="en-US" sz="4000" b="1" dirty="0">
                <a:solidFill>
                  <a:srgbClr val="000000"/>
                </a:solidFill>
                <a:latin typeface="+mj-lt"/>
              </a:rPr>
              <a:t>Sequence Diagram</a:t>
            </a:r>
            <a:endParaRPr lang="en-US" dirty="0"/>
          </a:p>
        </p:txBody>
      </p:sp>
    </p:spTree>
    <p:extLst>
      <p:ext uri="{BB962C8B-B14F-4D97-AF65-F5344CB8AC3E}">
        <p14:creationId xmlns:p14="http://schemas.microsoft.com/office/powerpoint/2010/main" val="834260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7112-C5F4-4317-6067-A7D6B11918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299834-4564-4F6C-78B4-750325086D19}"/>
              </a:ext>
            </a:extLst>
          </p:cNvPr>
          <p:cNvSpPr txBox="1"/>
          <p:nvPr/>
        </p:nvSpPr>
        <p:spPr>
          <a:xfrm>
            <a:off x="609600" y="-1335793"/>
            <a:ext cx="3515360" cy="1323439"/>
          </a:xfrm>
          <a:prstGeom prst="rect">
            <a:avLst/>
          </a:prstGeom>
          <a:noFill/>
        </p:spPr>
        <p:txBody>
          <a:bodyPr wrap="square" lIns="91440" tIns="45720" rIns="91440" bIns="45720" rtlCol="0" anchor="t">
            <a:spAutoFit/>
          </a:bodyPr>
          <a:lstStyle/>
          <a:p>
            <a:r>
              <a:rPr lang="en-US" sz="4000" b="1" dirty="0">
                <a:solidFill>
                  <a:srgbClr val="000000"/>
                </a:solidFill>
                <a:latin typeface="+mj-lt"/>
              </a:rPr>
              <a:t>Level-0 DFD Diagram</a:t>
            </a:r>
            <a:endParaRPr lang="en-US" dirty="0"/>
          </a:p>
        </p:txBody>
      </p:sp>
      <p:pic>
        <p:nvPicPr>
          <p:cNvPr id="2" name="Picture 1" descr="A screenshot of a computer screen&#10;&#10;AI-generated content may be incorrect.">
            <a:extLst>
              <a:ext uri="{FF2B5EF4-FFF2-40B4-BE49-F238E27FC236}">
                <a16:creationId xmlns:a16="http://schemas.microsoft.com/office/drawing/2014/main" id="{84F046FA-04D2-F4FF-8BEB-9DF28A164DCD}"/>
              </a:ext>
            </a:extLst>
          </p:cNvPr>
          <p:cNvPicPr>
            <a:picLocks noChangeAspect="1"/>
          </p:cNvPicPr>
          <p:nvPr/>
        </p:nvPicPr>
        <p:blipFill>
          <a:blip r:embed="rId2"/>
          <a:stretch>
            <a:fillRect/>
          </a:stretch>
        </p:blipFill>
        <p:spPr>
          <a:xfrm>
            <a:off x="3121209" y="0"/>
            <a:ext cx="9070155" cy="6858000"/>
          </a:xfrm>
          <a:prstGeom prst="rect">
            <a:avLst/>
          </a:prstGeom>
        </p:spPr>
      </p:pic>
      <p:sp>
        <p:nvSpPr>
          <p:cNvPr id="5" name="TextBox 4">
            <a:extLst>
              <a:ext uri="{FF2B5EF4-FFF2-40B4-BE49-F238E27FC236}">
                <a16:creationId xmlns:a16="http://schemas.microsoft.com/office/drawing/2014/main" id="{16C51F69-76E5-AF0E-2DEE-2B33FC7E526F}"/>
              </a:ext>
            </a:extLst>
          </p:cNvPr>
          <p:cNvSpPr txBox="1"/>
          <p:nvPr/>
        </p:nvSpPr>
        <p:spPr>
          <a:xfrm>
            <a:off x="609600" y="2767281"/>
            <a:ext cx="2928499" cy="1323439"/>
          </a:xfrm>
          <a:prstGeom prst="rect">
            <a:avLst/>
          </a:prstGeom>
          <a:noFill/>
        </p:spPr>
        <p:txBody>
          <a:bodyPr wrap="square" lIns="91440" tIns="45720" rIns="91440" bIns="45720" rtlCol="0" anchor="t">
            <a:spAutoFit/>
          </a:bodyPr>
          <a:lstStyle/>
          <a:p>
            <a:r>
              <a:rPr lang="en-US" sz="4000" b="1" dirty="0">
                <a:solidFill>
                  <a:srgbClr val="000000"/>
                </a:solidFill>
                <a:latin typeface="+mj-lt"/>
              </a:rPr>
              <a:t>Sequence Diagram</a:t>
            </a:r>
            <a:endParaRPr lang="en-US" dirty="0"/>
          </a:p>
        </p:txBody>
      </p:sp>
    </p:spTree>
    <p:extLst>
      <p:ext uri="{BB962C8B-B14F-4D97-AF65-F5344CB8AC3E}">
        <p14:creationId xmlns:p14="http://schemas.microsoft.com/office/powerpoint/2010/main" val="24636523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FB05B-9598-3306-1677-B5C7356185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09A1B1-3522-567D-3795-0065FA0A54F0}"/>
              </a:ext>
            </a:extLst>
          </p:cNvPr>
          <p:cNvSpPr txBox="1"/>
          <p:nvPr/>
        </p:nvSpPr>
        <p:spPr>
          <a:xfrm>
            <a:off x="609600" y="1232237"/>
            <a:ext cx="11087100" cy="1015663"/>
          </a:xfrm>
          <a:prstGeom prst="rect">
            <a:avLst/>
          </a:prstGeom>
          <a:noFill/>
        </p:spPr>
        <p:txBody>
          <a:bodyPr wrap="square" lIns="91440" tIns="45720" rIns="91440" bIns="45720" anchor="t">
            <a:spAutoFit/>
          </a:bodyPr>
          <a:lstStyle/>
          <a:p>
            <a:r>
              <a:rPr lang="en-US" sz="6000" b="1" dirty="0">
                <a:latin typeface="+mj-lt"/>
              </a:rPr>
              <a:t>PROPOSED DELIVERABLES</a:t>
            </a:r>
          </a:p>
        </p:txBody>
      </p:sp>
      <p:sp>
        <p:nvSpPr>
          <p:cNvPr id="3" name="TextBox 2">
            <a:extLst>
              <a:ext uri="{FF2B5EF4-FFF2-40B4-BE49-F238E27FC236}">
                <a16:creationId xmlns:a16="http://schemas.microsoft.com/office/drawing/2014/main" id="{6570986C-624B-3158-FD28-FCFF4005BC3C}"/>
              </a:ext>
            </a:extLst>
          </p:cNvPr>
          <p:cNvSpPr txBox="1"/>
          <p:nvPr/>
        </p:nvSpPr>
        <p:spPr>
          <a:xfrm>
            <a:off x="609600" y="2819400"/>
            <a:ext cx="10972800" cy="2908489"/>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solidFill>
                  <a:srgbClr val="153D64"/>
                </a:solidFill>
                <a:ea typeface="+mn-lt"/>
                <a:cs typeface="+mn-lt"/>
              </a:rPr>
              <a:t>AI Model</a:t>
            </a:r>
          </a:p>
          <a:p>
            <a:pPr marL="285750" indent="-285750">
              <a:lnSpc>
                <a:spcPct val="150000"/>
              </a:lnSpc>
              <a:buFont typeface="Arial" panose="020B0604020202020204" pitchFamily="34" charset="0"/>
              <a:buChar char="•"/>
            </a:pPr>
            <a:r>
              <a:rPr lang="en-US" sz="2200" b="1" dirty="0">
                <a:solidFill>
                  <a:srgbClr val="153D64"/>
                </a:solidFill>
                <a:ea typeface="+mn-lt"/>
                <a:cs typeface="+mn-lt"/>
              </a:rPr>
              <a:t>Misinformation Detection Module</a:t>
            </a:r>
          </a:p>
          <a:p>
            <a:pPr marL="285750" indent="-285750">
              <a:lnSpc>
                <a:spcPct val="150000"/>
              </a:lnSpc>
              <a:buFont typeface="Arial" panose="020B0604020202020204" pitchFamily="34" charset="0"/>
              <a:buChar char="•"/>
            </a:pPr>
            <a:r>
              <a:rPr lang="en-US" sz="2200" b="1" dirty="0">
                <a:solidFill>
                  <a:srgbClr val="153D64"/>
                </a:solidFill>
                <a:ea typeface="+mn-lt"/>
                <a:cs typeface="+mn-lt"/>
              </a:rPr>
              <a:t>Mobile Application</a:t>
            </a:r>
            <a:endParaRPr lang="en-US" sz="2200" b="1" dirty="0">
              <a:solidFill>
                <a:srgbClr val="153D64"/>
              </a:solidFill>
            </a:endParaRPr>
          </a:p>
          <a:p>
            <a:pPr marL="285750" indent="-285750">
              <a:lnSpc>
                <a:spcPct val="150000"/>
              </a:lnSpc>
              <a:buFont typeface="Arial" panose="020B0604020202020204" pitchFamily="34" charset="0"/>
              <a:buChar char="•"/>
            </a:pPr>
            <a:r>
              <a:rPr lang="en-US" sz="2200" b="1" dirty="0">
                <a:solidFill>
                  <a:srgbClr val="153D64"/>
                </a:solidFill>
                <a:ea typeface="+mn-lt"/>
                <a:cs typeface="+mn-lt"/>
              </a:rPr>
              <a:t>Tracing &amp; Tracking System</a:t>
            </a:r>
          </a:p>
          <a:p>
            <a:pPr marL="285750" indent="-285750">
              <a:lnSpc>
                <a:spcPct val="150000"/>
              </a:lnSpc>
              <a:buFont typeface="Arial" panose="020B0604020202020204" pitchFamily="34" charset="0"/>
              <a:buChar char="•"/>
            </a:pPr>
            <a:r>
              <a:rPr lang="en-US" sz="2200" b="1" dirty="0">
                <a:solidFill>
                  <a:srgbClr val="153D64"/>
                </a:solidFill>
                <a:ea typeface="+mn-lt"/>
                <a:cs typeface="+mn-lt"/>
              </a:rPr>
              <a:t>Technical Documentation</a:t>
            </a:r>
            <a:endParaRPr lang="en-US" sz="2200" b="1" dirty="0">
              <a:solidFill>
                <a:srgbClr val="153D64"/>
              </a:solidFill>
            </a:endParaRPr>
          </a:p>
          <a:p>
            <a:pPr marL="285750" indent="-285750">
              <a:buFont typeface="Arial" panose="020B0604020202020204" pitchFamily="34" charset="0"/>
              <a:buChar char="•"/>
            </a:pPr>
            <a:endParaRPr lang="en-US" dirty="0">
              <a:solidFill>
                <a:srgbClr val="153D64"/>
              </a:solidFill>
            </a:endParaRPr>
          </a:p>
        </p:txBody>
      </p:sp>
      <p:sp>
        <p:nvSpPr>
          <p:cNvPr id="4" name="TextBox 3">
            <a:extLst>
              <a:ext uri="{FF2B5EF4-FFF2-40B4-BE49-F238E27FC236}">
                <a16:creationId xmlns:a16="http://schemas.microsoft.com/office/drawing/2014/main" id="{9AB7180B-372C-CD8C-6B8F-42DA512AF778}"/>
              </a:ext>
            </a:extLst>
          </p:cNvPr>
          <p:cNvSpPr txBox="1"/>
          <p:nvPr/>
        </p:nvSpPr>
        <p:spPr>
          <a:xfrm>
            <a:off x="12234247" y="2613392"/>
            <a:ext cx="8168583" cy="1631216"/>
          </a:xfrm>
          <a:prstGeom prst="rect">
            <a:avLst/>
          </a:prstGeom>
          <a:noFill/>
        </p:spPr>
        <p:txBody>
          <a:bodyPr wrap="none" rtlCol="0">
            <a:spAutoFit/>
          </a:bodyPr>
          <a:lstStyle/>
          <a:p>
            <a:pPr algn="ctr"/>
            <a:r>
              <a:rPr lang="en-US" sz="10000" b="1" dirty="0">
                <a:latin typeface="+mj-lt"/>
              </a:rPr>
              <a:t>GANTT CHART</a:t>
            </a:r>
          </a:p>
        </p:txBody>
      </p:sp>
    </p:spTree>
    <p:extLst>
      <p:ext uri="{BB962C8B-B14F-4D97-AF65-F5344CB8AC3E}">
        <p14:creationId xmlns:p14="http://schemas.microsoft.com/office/powerpoint/2010/main" val="1117102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27ADE1-D0C1-4082-869E-3CFD71DCF846}"/>
              </a:ext>
            </a:extLst>
          </p:cNvPr>
          <p:cNvSpPr txBox="1"/>
          <p:nvPr/>
        </p:nvSpPr>
        <p:spPr>
          <a:xfrm>
            <a:off x="2011709" y="2613392"/>
            <a:ext cx="8168583" cy="1631216"/>
          </a:xfrm>
          <a:prstGeom prst="rect">
            <a:avLst/>
          </a:prstGeom>
          <a:noFill/>
        </p:spPr>
        <p:txBody>
          <a:bodyPr wrap="none" rtlCol="0">
            <a:spAutoFit/>
          </a:bodyPr>
          <a:lstStyle/>
          <a:p>
            <a:pPr algn="ctr"/>
            <a:r>
              <a:rPr lang="en-US" sz="10000" b="1" dirty="0">
                <a:latin typeface="+mj-lt"/>
              </a:rPr>
              <a:t>GANTT CHART</a:t>
            </a:r>
          </a:p>
        </p:txBody>
      </p:sp>
      <p:sp>
        <p:nvSpPr>
          <p:cNvPr id="3" name="TextBox 2">
            <a:extLst>
              <a:ext uri="{FF2B5EF4-FFF2-40B4-BE49-F238E27FC236}">
                <a16:creationId xmlns:a16="http://schemas.microsoft.com/office/drawing/2014/main" id="{2BDD83FE-BA44-6722-DDF5-13583F30FEC9}"/>
              </a:ext>
            </a:extLst>
          </p:cNvPr>
          <p:cNvSpPr txBox="1"/>
          <p:nvPr/>
        </p:nvSpPr>
        <p:spPr>
          <a:xfrm>
            <a:off x="-10996258" y="1232237"/>
            <a:ext cx="10972800" cy="1015663"/>
          </a:xfrm>
          <a:prstGeom prst="rect">
            <a:avLst/>
          </a:prstGeom>
          <a:noFill/>
        </p:spPr>
        <p:txBody>
          <a:bodyPr wrap="square" lIns="91440" tIns="45720" rIns="91440" bIns="45720" anchor="t">
            <a:spAutoFit/>
          </a:bodyPr>
          <a:lstStyle/>
          <a:p>
            <a:r>
              <a:rPr lang="en-US" sz="6000" b="1" dirty="0">
                <a:latin typeface="+mj-lt"/>
              </a:rPr>
              <a:t>PROPOSED DELIVERABLES</a:t>
            </a:r>
          </a:p>
        </p:txBody>
      </p:sp>
      <p:sp>
        <p:nvSpPr>
          <p:cNvPr id="4" name="TextBox 3">
            <a:extLst>
              <a:ext uri="{FF2B5EF4-FFF2-40B4-BE49-F238E27FC236}">
                <a16:creationId xmlns:a16="http://schemas.microsoft.com/office/drawing/2014/main" id="{48602A30-8A84-77E9-639E-587D5B9E4F6A}"/>
              </a:ext>
            </a:extLst>
          </p:cNvPr>
          <p:cNvSpPr txBox="1"/>
          <p:nvPr/>
        </p:nvSpPr>
        <p:spPr>
          <a:xfrm>
            <a:off x="-10996258" y="2819400"/>
            <a:ext cx="10972800" cy="2908489"/>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2200" b="1" dirty="0">
                <a:solidFill>
                  <a:srgbClr val="153D64"/>
                </a:solidFill>
                <a:ea typeface="+mn-lt"/>
                <a:cs typeface="+mn-lt"/>
              </a:rPr>
              <a:t>AI Model</a:t>
            </a:r>
          </a:p>
          <a:p>
            <a:pPr marL="285750" indent="-285750">
              <a:lnSpc>
                <a:spcPct val="150000"/>
              </a:lnSpc>
              <a:buFont typeface="Arial" panose="020B0604020202020204" pitchFamily="34" charset="0"/>
              <a:buChar char="•"/>
            </a:pPr>
            <a:r>
              <a:rPr lang="en-US" sz="2200" b="1" dirty="0">
                <a:solidFill>
                  <a:srgbClr val="153D64"/>
                </a:solidFill>
                <a:ea typeface="+mn-lt"/>
                <a:cs typeface="+mn-lt"/>
              </a:rPr>
              <a:t>Misinformation Detection Module</a:t>
            </a:r>
          </a:p>
          <a:p>
            <a:pPr marL="285750" indent="-285750">
              <a:lnSpc>
                <a:spcPct val="150000"/>
              </a:lnSpc>
              <a:buFont typeface="Arial" panose="020B0604020202020204" pitchFamily="34" charset="0"/>
              <a:buChar char="•"/>
            </a:pPr>
            <a:r>
              <a:rPr lang="en-US" sz="2200" b="1" dirty="0">
                <a:solidFill>
                  <a:srgbClr val="153D64"/>
                </a:solidFill>
                <a:ea typeface="+mn-lt"/>
                <a:cs typeface="+mn-lt"/>
              </a:rPr>
              <a:t>Mobile Application</a:t>
            </a:r>
            <a:endParaRPr lang="en-US" sz="2200" b="1" dirty="0">
              <a:solidFill>
                <a:srgbClr val="153D64"/>
              </a:solidFill>
            </a:endParaRPr>
          </a:p>
          <a:p>
            <a:pPr marL="285750" indent="-285750">
              <a:lnSpc>
                <a:spcPct val="150000"/>
              </a:lnSpc>
              <a:buFont typeface="Arial" panose="020B0604020202020204" pitchFamily="34" charset="0"/>
              <a:buChar char="•"/>
            </a:pPr>
            <a:r>
              <a:rPr lang="en-US" sz="2200" b="1" dirty="0">
                <a:solidFill>
                  <a:srgbClr val="153D64"/>
                </a:solidFill>
                <a:ea typeface="+mn-lt"/>
                <a:cs typeface="+mn-lt"/>
              </a:rPr>
              <a:t>Tracing &amp; Tracking System</a:t>
            </a:r>
          </a:p>
          <a:p>
            <a:pPr marL="285750" indent="-285750">
              <a:lnSpc>
                <a:spcPct val="150000"/>
              </a:lnSpc>
              <a:buFont typeface="Arial" panose="020B0604020202020204" pitchFamily="34" charset="0"/>
              <a:buChar char="•"/>
            </a:pPr>
            <a:r>
              <a:rPr lang="en-US" sz="2200" b="1" dirty="0">
                <a:solidFill>
                  <a:srgbClr val="153D64"/>
                </a:solidFill>
                <a:ea typeface="+mn-lt"/>
                <a:cs typeface="+mn-lt"/>
              </a:rPr>
              <a:t>Technical Documentation</a:t>
            </a:r>
            <a:endParaRPr lang="en-US" sz="2200" b="1" dirty="0">
              <a:solidFill>
                <a:srgbClr val="153D64"/>
              </a:solidFill>
            </a:endParaRPr>
          </a:p>
          <a:p>
            <a:pPr marL="285750" indent="-285750">
              <a:buFont typeface="Arial" panose="020B0604020202020204" pitchFamily="34" charset="0"/>
              <a:buChar char="•"/>
            </a:pPr>
            <a:endParaRPr lang="en-US" dirty="0">
              <a:solidFill>
                <a:srgbClr val="153D64"/>
              </a:solidFill>
            </a:endParaRPr>
          </a:p>
        </p:txBody>
      </p:sp>
      <p:sp>
        <p:nvSpPr>
          <p:cNvPr id="5" name="TextBox 4">
            <a:extLst>
              <a:ext uri="{FF2B5EF4-FFF2-40B4-BE49-F238E27FC236}">
                <a16:creationId xmlns:a16="http://schemas.microsoft.com/office/drawing/2014/main" id="{725188BF-1430-D149-A70E-EA0AE7C141DF}"/>
              </a:ext>
            </a:extLst>
          </p:cNvPr>
          <p:cNvSpPr txBox="1"/>
          <p:nvPr/>
        </p:nvSpPr>
        <p:spPr>
          <a:xfrm>
            <a:off x="4493510" y="6922420"/>
            <a:ext cx="3204980" cy="707886"/>
          </a:xfrm>
          <a:prstGeom prst="rect">
            <a:avLst/>
          </a:prstGeom>
          <a:noFill/>
        </p:spPr>
        <p:txBody>
          <a:bodyPr wrap="none" rtlCol="0">
            <a:spAutoFit/>
          </a:bodyPr>
          <a:lstStyle/>
          <a:p>
            <a:pPr algn="ctr"/>
            <a:r>
              <a:rPr lang="en-US" sz="4000" b="1" dirty="0">
                <a:latin typeface="+mj-lt"/>
              </a:rPr>
              <a:t>For Iteration 1</a:t>
            </a:r>
          </a:p>
        </p:txBody>
      </p:sp>
      <p:sp>
        <p:nvSpPr>
          <p:cNvPr id="6" name="TextBox 5">
            <a:extLst>
              <a:ext uri="{FF2B5EF4-FFF2-40B4-BE49-F238E27FC236}">
                <a16:creationId xmlns:a16="http://schemas.microsoft.com/office/drawing/2014/main" id="{3E8C9752-6A7D-2861-95C3-B431126AE9DF}"/>
              </a:ext>
            </a:extLst>
          </p:cNvPr>
          <p:cNvSpPr txBox="1"/>
          <p:nvPr/>
        </p:nvSpPr>
        <p:spPr>
          <a:xfrm>
            <a:off x="5181936" y="11962154"/>
            <a:ext cx="1828129" cy="369332"/>
          </a:xfrm>
          <a:prstGeom prst="rect">
            <a:avLst/>
          </a:prstGeom>
          <a:noFill/>
        </p:spPr>
        <p:txBody>
          <a:bodyPr wrap="none" rtlCol="0">
            <a:spAutoFit/>
          </a:bodyPr>
          <a:lstStyle/>
          <a:p>
            <a:r>
              <a:rPr lang="en-US" b="1" dirty="0"/>
              <a:t>Fig: Gantt Chart</a:t>
            </a:r>
          </a:p>
        </p:txBody>
      </p:sp>
      <p:pic>
        <p:nvPicPr>
          <p:cNvPr id="7" name="Picture 6" descr="A graph with blue rectangles and yellow text&#10;&#10;AI-generated content may be incorrect.">
            <a:extLst>
              <a:ext uri="{FF2B5EF4-FFF2-40B4-BE49-F238E27FC236}">
                <a16:creationId xmlns:a16="http://schemas.microsoft.com/office/drawing/2014/main" id="{FD89CE29-1F25-DA20-055B-B2232428DF0E}"/>
              </a:ext>
            </a:extLst>
          </p:cNvPr>
          <p:cNvPicPr>
            <a:picLocks noChangeAspect="1"/>
          </p:cNvPicPr>
          <p:nvPr/>
        </p:nvPicPr>
        <p:blipFill>
          <a:blip r:embed="rId2"/>
          <a:stretch>
            <a:fillRect/>
          </a:stretch>
        </p:blipFill>
        <p:spPr>
          <a:xfrm>
            <a:off x="2165189" y="7634519"/>
            <a:ext cx="7861622" cy="4027748"/>
          </a:xfrm>
          <a:prstGeom prst="rect">
            <a:avLst/>
          </a:prstGeom>
        </p:spPr>
      </p:pic>
    </p:spTree>
    <p:extLst>
      <p:ext uri="{BB962C8B-B14F-4D97-AF65-F5344CB8AC3E}">
        <p14:creationId xmlns:p14="http://schemas.microsoft.com/office/powerpoint/2010/main" val="1935666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EF1B-9BBD-659F-CF59-7B7604D90381}"/>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FB8741A-C644-8766-6611-B976C9510C71}"/>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1</a:t>
            </a:r>
          </a:p>
        </p:txBody>
      </p:sp>
      <p:sp>
        <p:nvSpPr>
          <p:cNvPr id="5" name="TextBox 4">
            <a:extLst>
              <a:ext uri="{FF2B5EF4-FFF2-40B4-BE49-F238E27FC236}">
                <a16:creationId xmlns:a16="http://schemas.microsoft.com/office/drawing/2014/main" id="{14F8EBBB-13EA-00AE-543E-8B7C229AB0AB}"/>
              </a:ext>
            </a:extLst>
          </p:cNvPr>
          <p:cNvSpPr txBox="1"/>
          <p:nvPr/>
        </p:nvSpPr>
        <p:spPr>
          <a:xfrm>
            <a:off x="5181936" y="5795812"/>
            <a:ext cx="1828129" cy="369332"/>
          </a:xfrm>
          <a:prstGeom prst="rect">
            <a:avLst/>
          </a:prstGeom>
          <a:noFill/>
        </p:spPr>
        <p:txBody>
          <a:bodyPr wrap="none" rtlCol="0">
            <a:spAutoFit/>
          </a:bodyPr>
          <a:lstStyle/>
          <a:p>
            <a:r>
              <a:rPr lang="en-US" b="1" dirty="0"/>
              <a:t>Fig: Gantt Chart</a:t>
            </a:r>
          </a:p>
        </p:txBody>
      </p:sp>
      <p:pic>
        <p:nvPicPr>
          <p:cNvPr id="2" name="Picture 1" descr="A graph with blue rectangles and yellow text&#10;&#10;AI-generated content may be incorrect.">
            <a:extLst>
              <a:ext uri="{FF2B5EF4-FFF2-40B4-BE49-F238E27FC236}">
                <a16:creationId xmlns:a16="http://schemas.microsoft.com/office/drawing/2014/main" id="{6E8371C9-8F86-6513-0470-B57E88BD11D6}"/>
              </a:ext>
            </a:extLst>
          </p:cNvPr>
          <p:cNvPicPr>
            <a:picLocks noChangeAspect="1"/>
          </p:cNvPicPr>
          <p:nvPr/>
        </p:nvPicPr>
        <p:blipFill>
          <a:blip r:embed="rId2"/>
          <a:stretch>
            <a:fillRect/>
          </a:stretch>
        </p:blipFill>
        <p:spPr>
          <a:xfrm>
            <a:off x="2165189" y="1468177"/>
            <a:ext cx="7861622" cy="4027748"/>
          </a:xfrm>
          <a:prstGeom prst="rect">
            <a:avLst/>
          </a:prstGeom>
        </p:spPr>
      </p:pic>
      <p:sp>
        <p:nvSpPr>
          <p:cNvPr id="4" name="TextBox 3">
            <a:extLst>
              <a:ext uri="{FF2B5EF4-FFF2-40B4-BE49-F238E27FC236}">
                <a16:creationId xmlns:a16="http://schemas.microsoft.com/office/drawing/2014/main" id="{1D3E7CF7-6BC0-8D0D-3A8E-1B64517F0CF4}"/>
              </a:ext>
            </a:extLst>
          </p:cNvPr>
          <p:cNvSpPr txBox="1"/>
          <p:nvPr/>
        </p:nvSpPr>
        <p:spPr>
          <a:xfrm>
            <a:off x="2011709" y="-1677248"/>
            <a:ext cx="8168583" cy="1631216"/>
          </a:xfrm>
          <a:prstGeom prst="rect">
            <a:avLst/>
          </a:prstGeom>
          <a:noFill/>
        </p:spPr>
        <p:txBody>
          <a:bodyPr wrap="none" rtlCol="0">
            <a:spAutoFit/>
          </a:bodyPr>
          <a:lstStyle/>
          <a:p>
            <a:pPr algn="ctr"/>
            <a:r>
              <a:rPr lang="en-US" sz="10000" b="1" dirty="0">
                <a:latin typeface="+mj-lt"/>
              </a:rPr>
              <a:t>GANTT CHART</a:t>
            </a:r>
          </a:p>
        </p:txBody>
      </p:sp>
    </p:spTree>
    <p:extLst>
      <p:ext uri="{BB962C8B-B14F-4D97-AF65-F5344CB8AC3E}">
        <p14:creationId xmlns:p14="http://schemas.microsoft.com/office/powerpoint/2010/main" val="41490007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A3281-373A-936D-E1FC-6D17FF0B2C7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3261E24-B847-A62C-8BB8-6E5AC0E795B5}"/>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2</a:t>
            </a:r>
          </a:p>
        </p:txBody>
      </p:sp>
      <p:sp>
        <p:nvSpPr>
          <p:cNvPr id="5" name="TextBox 4">
            <a:extLst>
              <a:ext uri="{FF2B5EF4-FFF2-40B4-BE49-F238E27FC236}">
                <a16:creationId xmlns:a16="http://schemas.microsoft.com/office/drawing/2014/main" id="{D88B00F5-143D-2558-371C-4BFCCFBC8466}"/>
              </a:ext>
            </a:extLst>
          </p:cNvPr>
          <p:cNvSpPr txBox="1"/>
          <p:nvPr/>
        </p:nvSpPr>
        <p:spPr>
          <a:xfrm>
            <a:off x="5181936" y="5795812"/>
            <a:ext cx="1828129" cy="369332"/>
          </a:xfrm>
          <a:prstGeom prst="rect">
            <a:avLst/>
          </a:prstGeom>
          <a:noFill/>
        </p:spPr>
        <p:txBody>
          <a:bodyPr wrap="none" rtlCol="0">
            <a:spAutoFit/>
          </a:bodyPr>
          <a:lstStyle/>
          <a:p>
            <a:r>
              <a:rPr lang="en-US" b="1" dirty="0"/>
              <a:t>Fig: Gantt Chart</a:t>
            </a:r>
          </a:p>
        </p:txBody>
      </p:sp>
      <p:pic>
        <p:nvPicPr>
          <p:cNvPr id="4" name="Picture 3" descr="A graph with numbers and a number on it">
            <a:extLst>
              <a:ext uri="{FF2B5EF4-FFF2-40B4-BE49-F238E27FC236}">
                <a16:creationId xmlns:a16="http://schemas.microsoft.com/office/drawing/2014/main" id="{F6ADACF2-AEE8-3F64-A01A-7739286EFF59}"/>
              </a:ext>
            </a:extLst>
          </p:cNvPr>
          <p:cNvPicPr>
            <a:picLocks noChangeAspect="1"/>
          </p:cNvPicPr>
          <p:nvPr/>
        </p:nvPicPr>
        <p:blipFill>
          <a:blip r:embed="rId2"/>
          <a:stretch>
            <a:fillRect/>
          </a:stretch>
        </p:blipFill>
        <p:spPr>
          <a:xfrm>
            <a:off x="2077817" y="1714204"/>
            <a:ext cx="8036366" cy="3724095"/>
          </a:xfrm>
          <a:prstGeom prst="rect">
            <a:avLst/>
          </a:prstGeom>
        </p:spPr>
      </p:pic>
    </p:spTree>
    <p:extLst>
      <p:ext uri="{BB962C8B-B14F-4D97-AF65-F5344CB8AC3E}">
        <p14:creationId xmlns:p14="http://schemas.microsoft.com/office/powerpoint/2010/main" val="3490927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43A7-8657-02C3-C5F8-AC0B30F447DC}"/>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F378E89-8A46-F838-3477-9D2F349BE71B}"/>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3</a:t>
            </a:r>
          </a:p>
        </p:txBody>
      </p:sp>
      <p:sp>
        <p:nvSpPr>
          <p:cNvPr id="5" name="TextBox 4">
            <a:extLst>
              <a:ext uri="{FF2B5EF4-FFF2-40B4-BE49-F238E27FC236}">
                <a16:creationId xmlns:a16="http://schemas.microsoft.com/office/drawing/2014/main" id="{A88F9C56-ACBA-07EA-1122-9D9A3DF0A1CD}"/>
              </a:ext>
            </a:extLst>
          </p:cNvPr>
          <p:cNvSpPr txBox="1"/>
          <p:nvPr/>
        </p:nvSpPr>
        <p:spPr>
          <a:xfrm>
            <a:off x="5181936" y="5795812"/>
            <a:ext cx="1828129" cy="369332"/>
          </a:xfrm>
          <a:prstGeom prst="rect">
            <a:avLst/>
          </a:prstGeom>
          <a:noFill/>
        </p:spPr>
        <p:txBody>
          <a:bodyPr wrap="none" rtlCol="0">
            <a:spAutoFit/>
          </a:bodyPr>
          <a:lstStyle/>
          <a:p>
            <a:r>
              <a:rPr lang="en-US" b="1" dirty="0"/>
              <a:t>Fig: Gantt Chart</a:t>
            </a:r>
          </a:p>
        </p:txBody>
      </p:sp>
      <p:pic>
        <p:nvPicPr>
          <p:cNvPr id="2" name="Picture 1" descr="A graph with numbers and text&#10;&#10;AI-generated content may be incorrect.">
            <a:extLst>
              <a:ext uri="{FF2B5EF4-FFF2-40B4-BE49-F238E27FC236}">
                <a16:creationId xmlns:a16="http://schemas.microsoft.com/office/drawing/2014/main" id="{09171C11-D2F1-1A7F-9BE7-1ADCDC7407A4}"/>
              </a:ext>
            </a:extLst>
          </p:cNvPr>
          <p:cNvPicPr>
            <a:picLocks noChangeAspect="1"/>
          </p:cNvPicPr>
          <p:nvPr/>
        </p:nvPicPr>
        <p:blipFill>
          <a:blip r:embed="rId2"/>
          <a:stretch>
            <a:fillRect/>
          </a:stretch>
        </p:blipFill>
        <p:spPr>
          <a:xfrm>
            <a:off x="2320644" y="1714500"/>
            <a:ext cx="7550713" cy="3689958"/>
          </a:xfrm>
          <a:prstGeom prst="rect">
            <a:avLst/>
          </a:prstGeom>
        </p:spPr>
      </p:pic>
    </p:spTree>
    <p:extLst>
      <p:ext uri="{BB962C8B-B14F-4D97-AF65-F5344CB8AC3E}">
        <p14:creationId xmlns:p14="http://schemas.microsoft.com/office/powerpoint/2010/main" val="1955185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0C802-D45F-00F2-CD83-993F29D7A2B9}"/>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AA8D40A-AF14-AA7F-EBA3-A8ABE06FE0E1}"/>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4</a:t>
            </a:r>
          </a:p>
        </p:txBody>
      </p:sp>
      <p:sp>
        <p:nvSpPr>
          <p:cNvPr id="5" name="TextBox 4">
            <a:extLst>
              <a:ext uri="{FF2B5EF4-FFF2-40B4-BE49-F238E27FC236}">
                <a16:creationId xmlns:a16="http://schemas.microsoft.com/office/drawing/2014/main" id="{7E4B71DB-96F9-F404-3121-8192EB5D5ED9}"/>
              </a:ext>
            </a:extLst>
          </p:cNvPr>
          <p:cNvSpPr txBox="1"/>
          <p:nvPr/>
        </p:nvSpPr>
        <p:spPr>
          <a:xfrm>
            <a:off x="5181936" y="5795812"/>
            <a:ext cx="1828129" cy="369332"/>
          </a:xfrm>
          <a:prstGeom prst="rect">
            <a:avLst/>
          </a:prstGeom>
          <a:noFill/>
        </p:spPr>
        <p:txBody>
          <a:bodyPr wrap="none" rtlCol="0">
            <a:spAutoFit/>
          </a:bodyPr>
          <a:lstStyle/>
          <a:p>
            <a:r>
              <a:rPr lang="en-US" b="1" dirty="0"/>
              <a:t>Fig: Gantt Chart</a:t>
            </a:r>
          </a:p>
        </p:txBody>
      </p:sp>
      <p:pic>
        <p:nvPicPr>
          <p:cNvPr id="2" name="Picture 1" descr="A graph with numbers and a bar&#10;&#10;AI-generated content may be incorrect.">
            <a:extLst>
              <a:ext uri="{FF2B5EF4-FFF2-40B4-BE49-F238E27FC236}">
                <a16:creationId xmlns:a16="http://schemas.microsoft.com/office/drawing/2014/main" id="{10B82ECE-F5D5-176D-0A27-F82F294123D3}"/>
              </a:ext>
            </a:extLst>
          </p:cNvPr>
          <p:cNvPicPr>
            <a:picLocks noChangeAspect="1"/>
          </p:cNvPicPr>
          <p:nvPr/>
        </p:nvPicPr>
        <p:blipFill>
          <a:blip r:embed="rId2"/>
          <a:stretch>
            <a:fillRect/>
          </a:stretch>
        </p:blipFill>
        <p:spPr>
          <a:xfrm>
            <a:off x="2314575" y="1576714"/>
            <a:ext cx="7562850" cy="4059477"/>
          </a:xfrm>
          <a:prstGeom prst="rect">
            <a:avLst/>
          </a:prstGeom>
        </p:spPr>
      </p:pic>
    </p:spTree>
    <p:extLst>
      <p:ext uri="{BB962C8B-B14F-4D97-AF65-F5344CB8AC3E}">
        <p14:creationId xmlns:p14="http://schemas.microsoft.com/office/powerpoint/2010/main" val="3668522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0152-78DE-6D60-B2B4-158339412275}"/>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2C49CD2-33D1-5A74-6976-08C8D610F70D}"/>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5</a:t>
            </a:r>
          </a:p>
        </p:txBody>
      </p:sp>
      <p:sp>
        <p:nvSpPr>
          <p:cNvPr id="5" name="TextBox 4">
            <a:extLst>
              <a:ext uri="{FF2B5EF4-FFF2-40B4-BE49-F238E27FC236}">
                <a16:creationId xmlns:a16="http://schemas.microsoft.com/office/drawing/2014/main" id="{5891AFEF-E41A-12B4-32A0-A832FEBB9502}"/>
              </a:ext>
            </a:extLst>
          </p:cNvPr>
          <p:cNvSpPr txBox="1"/>
          <p:nvPr/>
        </p:nvSpPr>
        <p:spPr>
          <a:xfrm>
            <a:off x="5181936" y="5788502"/>
            <a:ext cx="1828129" cy="369332"/>
          </a:xfrm>
          <a:prstGeom prst="rect">
            <a:avLst/>
          </a:prstGeom>
          <a:noFill/>
        </p:spPr>
        <p:txBody>
          <a:bodyPr wrap="none" rtlCol="0">
            <a:spAutoFit/>
          </a:bodyPr>
          <a:lstStyle/>
          <a:p>
            <a:r>
              <a:rPr lang="en-US" b="1" dirty="0"/>
              <a:t>Fig: Gantt Chart</a:t>
            </a:r>
          </a:p>
        </p:txBody>
      </p:sp>
      <p:pic>
        <p:nvPicPr>
          <p:cNvPr id="2" name="Picture 1">
            <a:extLst>
              <a:ext uri="{FF2B5EF4-FFF2-40B4-BE49-F238E27FC236}">
                <a16:creationId xmlns:a16="http://schemas.microsoft.com/office/drawing/2014/main" id="{BE7A84C1-6CD3-942A-4507-EDF355B349E9}"/>
              </a:ext>
            </a:extLst>
          </p:cNvPr>
          <p:cNvPicPr>
            <a:picLocks noChangeAspect="1"/>
          </p:cNvPicPr>
          <p:nvPr/>
        </p:nvPicPr>
        <p:blipFill>
          <a:blip r:embed="rId2"/>
          <a:stretch>
            <a:fillRect/>
          </a:stretch>
        </p:blipFill>
        <p:spPr>
          <a:xfrm>
            <a:off x="2124859" y="1562427"/>
            <a:ext cx="7942283" cy="4067175"/>
          </a:xfrm>
          <a:prstGeom prst="rect">
            <a:avLst/>
          </a:prstGeom>
        </p:spPr>
      </p:pic>
    </p:spTree>
    <p:extLst>
      <p:ext uri="{BB962C8B-B14F-4D97-AF65-F5344CB8AC3E}">
        <p14:creationId xmlns:p14="http://schemas.microsoft.com/office/powerpoint/2010/main" val="7194615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3A53-57C8-1AD6-E1CF-3FF4935508E7}"/>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091D53D-291F-37F6-3460-EEDE62C0AC8B}"/>
              </a:ext>
            </a:extLst>
          </p:cNvPr>
          <p:cNvSpPr txBox="1"/>
          <p:nvPr/>
        </p:nvSpPr>
        <p:spPr>
          <a:xfrm>
            <a:off x="4493510" y="756078"/>
            <a:ext cx="3204980" cy="707886"/>
          </a:xfrm>
          <a:prstGeom prst="rect">
            <a:avLst/>
          </a:prstGeom>
          <a:noFill/>
        </p:spPr>
        <p:txBody>
          <a:bodyPr wrap="none" rtlCol="0">
            <a:spAutoFit/>
          </a:bodyPr>
          <a:lstStyle/>
          <a:p>
            <a:pPr algn="ctr"/>
            <a:r>
              <a:rPr lang="en-US" sz="4000" b="1" dirty="0">
                <a:latin typeface="+mj-lt"/>
              </a:rPr>
              <a:t>For Iteration 6</a:t>
            </a:r>
          </a:p>
        </p:txBody>
      </p:sp>
      <p:sp>
        <p:nvSpPr>
          <p:cNvPr id="5" name="TextBox 4">
            <a:extLst>
              <a:ext uri="{FF2B5EF4-FFF2-40B4-BE49-F238E27FC236}">
                <a16:creationId xmlns:a16="http://schemas.microsoft.com/office/drawing/2014/main" id="{AF03C433-557A-EA78-6492-B5569083E078}"/>
              </a:ext>
            </a:extLst>
          </p:cNvPr>
          <p:cNvSpPr txBox="1"/>
          <p:nvPr/>
        </p:nvSpPr>
        <p:spPr>
          <a:xfrm>
            <a:off x="5181936" y="5788502"/>
            <a:ext cx="1828129" cy="369332"/>
          </a:xfrm>
          <a:prstGeom prst="rect">
            <a:avLst/>
          </a:prstGeom>
          <a:noFill/>
        </p:spPr>
        <p:txBody>
          <a:bodyPr wrap="none" rtlCol="0">
            <a:spAutoFit/>
          </a:bodyPr>
          <a:lstStyle/>
          <a:p>
            <a:r>
              <a:rPr lang="en-US" b="1" dirty="0"/>
              <a:t>Fig: Gantt Chart</a:t>
            </a:r>
          </a:p>
        </p:txBody>
      </p:sp>
      <p:pic>
        <p:nvPicPr>
          <p:cNvPr id="2" name="Picture 1">
            <a:extLst>
              <a:ext uri="{FF2B5EF4-FFF2-40B4-BE49-F238E27FC236}">
                <a16:creationId xmlns:a16="http://schemas.microsoft.com/office/drawing/2014/main" id="{93637506-C049-EC84-8258-4DA352D40038}"/>
              </a:ext>
            </a:extLst>
          </p:cNvPr>
          <p:cNvPicPr>
            <a:picLocks noChangeAspect="1"/>
          </p:cNvPicPr>
          <p:nvPr/>
        </p:nvPicPr>
        <p:blipFill>
          <a:blip r:embed="rId2"/>
          <a:stretch>
            <a:fillRect/>
          </a:stretch>
        </p:blipFill>
        <p:spPr>
          <a:xfrm>
            <a:off x="1860507" y="1460978"/>
            <a:ext cx="8470986" cy="4019550"/>
          </a:xfrm>
          <a:prstGeom prst="rect">
            <a:avLst/>
          </a:prstGeom>
        </p:spPr>
      </p:pic>
    </p:spTree>
    <p:extLst>
      <p:ext uri="{BB962C8B-B14F-4D97-AF65-F5344CB8AC3E}">
        <p14:creationId xmlns:p14="http://schemas.microsoft.com/office/powerpoint/2010/main" val="39977585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41BCB0-D3D7-4425-9BEC-2340804E4C20}"/>
              </a:ext>
            </a:extLst>
          </p:cNvPr>
          <p:cNvSpPr/>
          <p:nvPr/>
        </p:nvSpPr>
        <p:spPr>
          <a:xfrm>
            <a:off x="0" y="0"/>
            <a:ext cx="12192000" cy="6858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D7E3659E-84D7-4BE0-B281-0E88BF787776}"/>
              </a:ext>
            </a:extLst>
          </p:cNvPr>
          <p:cNvSpPr/>
          <p:nvPr/>
        </p:nvSpPr>
        <p:spPr>
          <a:xfrm>
            <a:off x="0" y="0"/>
            <a:ext cx="12192000" cy="6858000"/>
          </a:xfrm>
          <a:custGeom>
            <a:avLst/>
            <a:gdLst/>
            <a:ahLst/>
            <a:cxnLst/>
            <a:rect l="l" t="t" r="r" b="b"/>
            <a:pathLst>
              <a:path w="12192000" h="6858000">
                <a:moveTo>
                  <a:pt x="4189477" y="3334512"/>
                </a:moveTo>
                <a:lnTo>
                  <a:pt x="4189477" y="3803142"/>
                </a:lnTo>
                <a:cubicBezTo>
                  <a:pt x="4166617" y="3836670"/>
                  <a:pt x="4142614" y="3860673"/>
                  <a:pt x="4117468" y="3875151"/>
                </a:cubicBezTo>
                <a:cubicBezTo>
                  <a:pt x="4092322" y="3889629"/>
                  <a:pt x="4064509" y="3896868"/>
                  <a:pt x="4034029" y="3896868"/>
                </a:cubicBezTo>
                <a:cubicBezTo>
                  <a:pt x="3991357" y="3896868"/>
                  <a:pt x="3957066" y="3882390"/>
                  <a:pt x="3931158" y="3853434"/>
                </a:cubicBezTo>
                <a:cubicBezTo>
                  <a:pt x="3905250" y="3824478"/>
                  <a:pt x="3892297" y="3780282"/>
                  <a:pt x="3892297" y="3720846"/>
                </a:cubicBezTo>
                <a:cubicBezTo>
                  <a:pt x="3892297" y="3673602"/>
                  <a:pt x="3899916" y="3633216"/>
                  <a:pt x="3915156" y="3599688"/>
                </a:cubicBezTo>
                <a:cubicBezTo>
                  <a:pt x="3930396" y="3566160"/>
                  <a:pt x="3950589" y="3537966"/>
                  <a:pt x="3975735" y="3515106"/>
                </a:cubicBezTo>
                <a:cubicBezTo>
                  <a:pt x="4000882" y="3492246"/>
                  <a:pt x="4027171" y="3471291"/>
                  <a:pt x="4054602" y="3452241"/>
                </a:cubicBezTo>
                <a:cubicBezTo>
                  <a:pt x="4082035" y="3433191"/>
                  <a:pt x="4107943" y="3414522"/>
                  <a:pt x="4132327" y="3396234"/>
                </a:cubicBezTo>
                <a:cubicBezTo>
                  <a:pt x="4156710" y="3377946"/>
                  <a:pt x="4175761" y="3357372"/>
                  <a:pt x="4189477" y="3334512"/>
                </a:cubicBezTo>
                <a:close/>
                <a:moveTo>
                  <a:pt x="9794367" y="2859024"/>
                </a:moveTo>
                <a:cubicBezTo>
                  <a:pt x="9856851" y="2859024"/>
                  <a:pt x="9908286" y="2904363"/>
                  <a:pt x="9948672" y="2995041"/>
                </a:cubicBezTo>
                <a:cubicBezTo>
                  <a:pt x="9989058" y="3085719"/>
                  <a:pt x="10009251" y="3233166"/>
                  <a:pt x="10009251" y="3437382"/>
                </a:cubicBezTo>
                <a:cubicBezTo>
                  <a:pt x="10009251" y="3641598"/>
                  <a:pt x="9989058" y="3788664"/>
                  <a:pt x="9948672" y="3878580"/>
                </a:cubicBezTo>
                <a:cubicBezTo>
                  <a:pt x="9908286" y="3968496"/>
                  <a:pt x="9856851" y="4013454"/>
                  <a:pt x="9794367" y="4013454"/>
                </a:cubicBezTo>
                <a:cubicBezTo>
                  <a:pt x="9733407" y="4013454"/>
                  <a:pt x="9682353" y="3968496"/>
                  <a:pt x="9641205" y="3878580"/>
                </a:cubicBezTo>
                <a:cubicBezTo>
                  <a:pt x="9600056" y="3788664"/>
                  <a:pt x="9579483" y="3641598"/>
                  <a:pt x="9579483" y="3437382"/>
                </a:cubicBezTo>
                <a:cubicBezTo>
                  <a:pt x="9579483" y="3233166"/>
                  <a:pt x="9600056" y="3085719"/>
                  <a:pt x="9641205" y="2995041"/>
                </a:cubicBezTo>
                <a:cubicBezTo>
                  <a:pt x="9682353" y="2904363"/>
                  <a:pt x="9733407" y="2859024"/>
                  <a:pt x="9794367" y="2859024"/>
                </a:cubicBezTo>
                <a:close/>
                <a:moveTo>
                  <a:pt x="7927086" y="2845308"/>
                </a:moveTo>
                <a:lnTo>
                  <a:pt x="7927086" y="2893314"/>
                </a:lnTo>
                <a:cubicBezTo>
                  <a:pt x="7945374" y="2893314"/>
                  <a:pt x="7967091" y="2899791"/>
                  <a:pt x="7992237" y="2912745"/>
                </a:cubicBezTo>
                <a:cubicBezTo>
                  <a:pt x="8017383" y="2925699"/>
                  <a:pt x="8042910" y="2961894"/>
                  <a:pt x="8068818" y="3021330"/>
                </a:cubicBezTo>
                <a:lnTo>
                  <a:pt x="8554124" y="4123287"/>
                </a:lnTo>
                <a:lnTo>
                  <a:pt x="8516874" y="4232910"/>
                </a:lnTo>
                <a:cubicBezTo>
                  <a:pt x="8494014" y="4295394"/>
                  <a:pt x="8465058" y="4341114"/>
                  <a:pt x="8430006" y="4370070"/>
                </a:cubicBezTo>
                <a:cubicBezTo>
                  <a:pt x="8394954" y="4399026"/>
                  <a:pt x="8354568" y="4413504"/>
                  <a:pt x="8308848" y="4413504"/>
                </a:cubicBezTo>
                <a:cubicBezTo>
                  <a:pt x="8302752" y="4413504"/>
                  <a:pt x="8294370" y="4413504"/>
                  <a:pt x="8283702" y="4413504"/>
                </a:cubicBezTo>
                <a:cubicBezTo>
                  <a:pt x="8273034" y="4413504"/>
                  <a:pt x="8263890" y="4412742"/>
                  <a:pt x="8256270" y="4411218"/>
                </a:cubicBezTo>
                <a:cubicBezTo>
                  <a:pt x="8294370" y="4397502"/>
                  <a:pt x="8322945" y="4376928"/>
                  <a:pt x="8341995" y="4349496"/>
                </a:cubicBezTo>
                <a:cubicBezTo>
                  <a:pt x="8361045" y="4322064"/>
                  <a:pt x="8370570" y="4293108"/>
                  <a:pt x="8370570" y="4262628"/>
                </a:cubicBezTo>
                <a:cubicBezTo>
                  <a:pt x="8370570" y="4215384"/>
                  <a:pt x="8354568" y="4179570"/>
                  <a:pt x="8322564" y="4155186"/>
                </a:cubicBezTo>
                <a:cubicBezTo>
                  <a:pt x="8290560" y="4130802"/>
                  <a:pt x="8249412" y="4118610"/>
                  <a:pt x="8199120" y="4118610"/>
                </a:cubicBezTo>
                <a:cubicBezTo>
                  <a:pt x="8144256" y="4118610"/>
                  <a:pt x="8100060" y="4132707"/>
                  <a:pt x="8066532" y="4160901"/>
                </a:cubicBezTo>
                <a:cubicBezTo>
                  <a:pt x="8033004" y="4189095"/>
                  <a:pt x="8016240" y="4226814"/>
                  <a:pt x="8016240" y="4274058"/>
                </a:cubicBezTo>
                <a:cubicBezTo>
                  <a:pt x="8016240" y="4316730"/>
                  <a:pt x="8029194" y="4351782"/>
                  <a:pt x="8055102" y="4379214"/>
                </a:cubicBezTo>
                <a:cubicBezTo>
                  <a:pt x="8081010" y="4406646"/>
                  <a:pt x="8113395" y="4426458"/>
                  <a:pt x="8152257" y="4438650"/>
                </a:cubicBezTo>
                <a:cubicBezTo>
                  <a:pt x="8191119" y="4450842"/>
                  <a:pt x="8228838" y="4456938"/>
                  <a:pt x="8265414" y="4456938"/>
                </a:cubicBezTo>
                <a:cubicBezTo>
                  <a:pt x="8309610" y="4456938"/>
                  <a:pt x="8348472" y="4451985"/>
                  <a:pt x="8382000" y="4442079"/>
                </a:cubicBezTo>
                <a:cubicBezTo>
                  <a:pt x="8415528" y="4432173"/>
                  <a:pt x="8442960" y="4418076"/>
                  <a:pt x="8464296" y="4399788"/>
                </a:cubicBezTo>
                <a:cubicBezTo>
                  <a:pt x="8484108" y="4383024"/>
                  <a:pt x="8502015" y="4361307"/>
                  <a:pt x="8518016" y="4334637"/>
                </a:cubicBezTo>
                <a:cubicBezTo>
                  <a:pt x="8534018" y="4307967"/>
                  <a:pt x="8549640" y="4275582"/>
                  <a:pt x="8564880" y="4237482"/>
                </a:cubicBezTo>
                <a:lnTo>
                  <a:pt x="8651748" y="3992880"/>
                </a:lnTo>
                <a:lnTo>
                  <a:pt x="8974074" y="3087624"/>
                </a:lnTo>
                <a:cubicBezTo>
                  <a:pt x="8998458" y="3020568"/>
                  <a:pt x="9023604" y="2972943"/>
                  <a:pt x="9049512" y="2944749"/>
                </a:cubicBezTo>
                <a:cubicBezTo>
                  <a:pt x="9075419" y="2916555"/>
                  <a:pt x="9102851" y="2898648"/>
                  <a:pt x="9131808" y="2891028"/>
                </a:cubicBezTo>
                <a:lnTo>
                  <a:pt x="9131808" y="2845308"/>
                </a:lnTo>
                <a:cubicBezTo>
                  <a:pt x="9111996" y="2846832"/>
                  <a:pt x="9085326" y="2848356"/>
                  <a:pt x="9051797" y="2849880"/>
                </a:cubicBezTo>
                <a:cubicBezTo>
                  <a:pt x="9018269" y="2851404"/>
                  <a:pt x="8986265" y="2852166"/>
                  <a:pt x="8955786" y="2852166"/>
                </a:cubicBezTo>
                <a:cubicBezTo>
                  <a:pt x="8935974" y="2852166"/>
                  <a:pt x="8913114" y="2851785"/>
                  <a:pt x="8887206" y="2851023"/>
                </a:cubicBezTo>
                <a:cubicBezTo>
                  <a:pt x="8861298" y="2850261"/>
                  <a:pt x="8835390" y="2849499"/>
                  <a:pt x="8809482" y="2848737"/>
                </a:cubicBezTo>
                <a:cubicBezTo>
                  <a:pt x="8783574" y="2847975"/>
                  <a:pt x="8758428" y="2846832"/>
                  <a:pt x="8734044" y="2845308"/>
                </a:cubicBezTo>
                <a:lnTo>
                  <a:pt x="8734044" y="2891028"/>
                </a:lnTo>
                <a:cubicBezTo>
                  <a:pt x="8784336" y="2894076"/>
                  <a:pt x="8823960" y="2908935"/>
                  <a:pt x="8852916" y="2935605"/>
                </a:cubicBezTo>
                <a:cubicBezTo>
                  <a:pt x="8881872" y="2962275"/>
                  <a:pt x="8898636" y="3001899"/>
                  <a:pt x="8903208" y="3054477"/>
                </a:cubicBezTo>
                <a:cubicBezTo>
                  <a:pt x="8907780" y="3107055"/>
                  <a:pt x="8895588" y="3174492"/>
                  <a:pt x="8866632" y="3256788"/>
                </a:cubicBezTo>
                <a:lnTo>
                  <a:pt x="8709628" y="3695975"/>
                </a:lnTo>
                <a:lnTo>
                  <a:pt x="8430006" y="3021330"/>
                </a:lnTo>
                <a:cubicBezTo>
                  <a:pt x="8411718" y="2978658"/>
                  <a:pt x="8407527" y="2948559"/>
                  <a:pt x="8417432" y="2931033"/>
                </a:cubicBezTo>
                <a:cubicBezTo>
                  <a:pt x="8427338" y="2913507"/>
                  <a:pt x="8445626" y="2902839"/>
                  <a:pt x="8472297" y="2899029"/>
                </a:cubicBezTo>
                <a:cubicBezTo>
                  <a:pt x="8498966" y="2895219"/>
                  <a:pt x="8527542" y="2893314"/>
                  <a:pt x="8558022" y="2893314"/>
                </a:cubicBezTo>
                <a:lnTo>
                  <a:pt x="8558022" y="2845308"/>
                </a:lnTo>
                <a:cubicBezTo>
                  <a:pt x="8512302" y="2848356"/>
                  <a:pt x="8463534" y="2851404"/>
                  <a:pt x="8411718" y="2854452"/>
                </a:cubicBezTo>
                <a:cubicBezTo>
                  <a:pt x="8359902" y="2857500"/>
                  <a:pt x="8302752" y="2859024"/>
                  <a:pt x="8240268" y="2859024"/>
                </a:cubicBezTo>
                <a:cubicBezTo>
                  <a:pt x="8189976" y="2859024"/>
                  <a:pt x="8137779" y="2857881"/>
                  <a:pt x="8083677" y="2855595"/>
                </a:cubicBezTo>
                <a:cubicBezTo>
                  <a:pt x="8029575" y="2853309"/>
                  <a:pt x="7977378" y="2849880"/>
                  <a:pt x="7927086" y="2845308"/>
                </a:cubicBezTo>
                <a:close/>
                <a:moveTo>
                  <a:pt x="10950321" y="2820162"/>
                </a:moveTo>
                <a:cubicBezTo>
                  <a:pt x="10903078" y="2830830"/>
                  <a:pt x="10851642" y="2838831"/>
                  <a:pt x="10796015" y="2844165"/>
                </a:cubicBezTo>
                <a:cubicBezTo>
                  <a:pt x="10740390" y="2849499"/>
                  <a:pt x="10680572" y="2852166"/>
                  <a:pt x="10616565" y="2852166"/>
                </a:cubicBezTo>
                <a:cubicBezTo>
                  <a:pt x="10570844" y="2852166"/>
                  <a:pt x="10523601" y="2849880"/>
                  <a:pt x="10474833" y="2845308"/>
                </a:cubicBezTo>
                <a:lnTo>
                  <a:pt x="10474833" y="2893314"/>
                </a:lnTo>
                <a:cubicBezTo>
                  <a:pt x="10531220" y="2893314"/>
                  <a:pt x="10569701" y="2909697"/>
                  <a:pt x="10590276" y="2942463"/>
                </a:cubicBezTo>
                <a:cubicBezTo>
                  <a:pt x="10610850" y="2975229"/>
                  <a:pt x="10621137" y="3025902"/>
                  <a:pt x="10621137" y="3094482"/>
                </a:cubicBezTo>
                <a:lnTo>
                  <a:pt x="10621137" y="3672840"/>
                </a:lnTo>
                <a:cubicBezTo>
                  <a:pt x="10621137" y="3747516"/>
                  <a:pt x="10626471" y="3808476"/>
                  <a:pt x="10637139" y="3855720"/>
                </a:cubicBezTo>
                <a:cubicBezTo>
                  <a:pt x="10647806" y="3902964"/>
                  <a:pt x="10666094" y="3941064"/>
                  <a:pt x="10692003" y="3970020"/>
                </a:cubicBezTo>
                <a:cubicBezTo>
                  <a:pt x="10714862" y="3995928"/>
                  <a:pt x="10746105" y="4017264"/>
                  <a:pt x="10785729" y="4034028"/>
                </a:cubicBezTo>
                <a:cubicBezTo>
                  <a:pt x="10825353" y="4050792"/>
                  <a:pt x="10877169" y="4059174"/>
                  <a:pt x="10941176" y="4059174"/>
                </a:cubicBezTo>
                <a:cubicBezTo>
                  <a:pt x="11020424" y="4059174"/>
                  <a:pt x="11092433" y="4042791"/>
                  <a:pt x="11157204" y="4010025"/>
                </a:cubicBezTo>
                <a:cubicBezTo>
                  <a:pt x="11221974" y="3977259"/>
                  <a:pt x="11272647" y="3922776"/>
                  <a:pt x="11309222" y="3846576"/>
                </a:cubicBezTo>
                <a:lnTo>
                  <a:pt x="11309222" y="4052316"/>
                </a:lnTo>
                <a:cubicBezTo>
                  <a:pt x="11357992" y="4040124"/>
                  <a:pt x="11409807" y="4031742"/>
                  <a:pt x="11464671" y="4027170"/>
                </a:cubicBezTo>
                <a:cubicBezTo>
                  <a:pt x="11519535" y="4022598"/>
                  <a:pt x="11578971" y="4020312"/>
                  <a:pt x="11642979" y="4020312"/>
                </a:cubicBezTo>
                <a:cubicBezTo>
                  <a:pt x="11690222" y="4020312"/>
                  <a:pt x="11737467" y="4022598"/>
                  <a:pt x="11784711" y="4027170"/>
                </a:cubicBezTo>
                <a:lnTo>
                  <a:pt x="11784711" y="3979164"/>
                </a:lnTo>
                <a:cubicBezTo>
                  <a:pt x="11729847" y="3979164"/>
                  <a:pt x="11691747" y="3962781"/>
                  <a:pt x="11670411" y="3930015"/>
                </a:cubicBezTo>
                <a:cubicBezTo>
                  <a:pt x="11649074" y="3897249"/>
                  <a:pt x="11638407" y="3846576"/>
                  <a:pt x="11638407" y="3777996"/>
                </a:cubicBezTo>
                <a:lnTo>
                  <a:pt x="11638407" y="2820162"/>
                </a:lnTo>
                <a:cubicBezTo>
                  <a:pt x="11591163" y="2830830"/>
                  <a:pt x="11539728" y="2838831"/>
                  <a:pt x="11484101" y="2844165"/>
                </a:cubicBezTo>
                <a:cubicBezTo>
                  <a:pt x="11428476" y="2849499"/>
                  <a:pt x="11368658" y="2852166"/>
                  <a:pt x="11304651" y="2852166"/>
                </a:cubicBezTo>
                <a:cubicBezTo>
                  <a:pt x="11258930" y="2852166"/>
                  <a:pt x="11211687" y="2849880"/>
                  <a:pt x="11162919" y="2845308"/>
                </a:cubicBezTo>
                <a:lnTo>
                  <a:pt x="11162919" y="2893314"/>
                </a:lnTo>
                <a:cubicBezTo>
                  <a:pt x="11219306" y="2893314"/>
                  <a:pt x="11257787" y="2909697"/>
                  <a:pt x="11278362" y="2942463"/>
                </a:cubicBezTo>
                <a:cubicBezTo>
                  <a:pt x="11298936" y="2975229"/>
                  <a:pt x="11309222" y="3025902"/>
                  <a:pt x="11309222" y="3094482"/>
                </a:cubicBezTo>
                <a:lnTo>
                  <a:pt x="11309222" y="3693414"/>
                </a:lnTo>
                <a:cubicBezTo>
                  <a:pt x="11309222" y="3743706"/>
                  <a:pt x="11298936" y="3789045"/>
                  <a:pt x="11278362" y="3829431"/>
                </a:cubicBezTo>
                <a:cubicBezTo>
                  <a:pt x="11257787" y="3869817"/>
                  <a:pt x="11231118" y="3901440"/>
                  <a:pt x="11198351" y="3924300"/>
                </a:cubicBezTo>
                <a:cubicBezTo>
                  <a:pt x="11165586" y="3947160"/>
                  <a:pt x="11128629" y="3958590"/>
                  <a:pt x="11087480" y="3958590"/>
                </a:cubicBezTo>
                <a:cubicBezTo>
                  <a:pt x="11049381" y="3958590"/>
                  <a:pt x="11020424" y="3950589"/>
                  <a:pt x="11000612" y="3934587"/>
                </a:cubicBezTo>
                <a:cubicBezTo>
                  <a:pt x="10980801" y="3918585"/>
                  <a:pt x="10967465" y="3896106"/>
                  <a:pt x="10960608" y="3867150"/>
                </a:cubicBezTo>
                <a:cubicBezTo>
                  <a:pt x="10953750" y="3838194"/>
                  <a:pt x="10950321" y="3804666"/>
                  <a:pt x="10950321" y="3766566"/>
                </a:cubicBezTo>
                <a:close/>
                <a:moveTo>
                  <a:pt x="9794367" y="2813304"/>
                </a:moveTo>
                <a:cubicBezTo>
                  <a:pt x="9686163" y="2813304"/>
                  <a:pt x="9589769" y="2833878"/>
                  <a:pt x="9505188" y="2875026"/>
                </a:cubicBezTo>
                <a:cubicBezTo>
                  <a:pt x="9420606" y="2916174"/>
                  <a:pt x="9354312" y="2982468"/>
                  <a:pt x="9306306" y="3073908"/>
                </a:cubicBezTo>
                <a:cubicBezTo>
                  <a:pt x="9258299" y="3165348"/>
                  <a:pt x="9234297" y="3286506"/>
                  <a:pt x="9234297" y="3437382"/>
                </a:cubicBezTo>
                <a:cubicBezTo>
                  <a:pt x="9234297" y="3588258"/>
                  <a:pt x="9258299" y="3709035"/>
                  <a:pt x="9306306" y="3799713"/>
                </a:cubicBezTo>
                <a:cubicBezTo>
                  <a:pt x="9354312" y="3890391"/>
                  <a:pt x="9420606" y="3956304"/>
                  <a:pt x="9505188" y="3997452"/>
                </a:cubicBezTo>
                <a:cubicBezTo>
                  <a:pt x="9589769" y="4038600"/>
                  <a:pt x="9686163" y="4059174"/>
                  <a:pt x="9794367" y="4059174"/>
                </a:cubicBezTo>
                <a:cubicBezTo>
                  <a:pt x="9905619" y="4059174"/>
                  <a:pt x="10003155" y="4038600"/>
                  <a:pt x="10086975" y="3997452"/>
                </a:cubicBezTo>
                <a:cubicBezTo>
                  <a:pt x="10170795" y="3956304"/>
                  <a:pt x="10236326" y="3890391"/>
                  <a:pt x="10283571" y="3799713"/>
                </a:cubicBezTo>
                <a:cubicBezTo>
                  <a:pt x="10330815" y="3709035"/>
                  <a:pt x="10354437" y="3588258"/>
                  <a:pt x="10354437" y="3437382"/>
                </a:cubicBezTo>
                <a:cubicBezTo>
                  <a:pt x="10354437" y="3286506"/>
                  <a:pt x="10330815" y="3165348"/>
                  <a:pt x="10283571" y="3073908"/>
                </a:cubicBezTo>
                <a:cubicBezTo>
                  <a:pt x="10236326" y="2982468"/>
                  <a:pt x="10170795" y="2916174"/>
                  <a:pt x="10086975" y="2875026"/>
                </a:cubicBezTo>
                <a:cubicBezTo>
                  <a:pt x="10003155" y="2833878"/>
                  <a:pt x="9905619" y="2813304"/>
                  <a:pt x="9794367" y="2813304"/>
                </a:cubicBezTo>
                <a:close/>
                <a:moveTo>
                  <a:pt x="5587746" y="2813304"/>
                </a:moveTo>
                <a:cubicBezTo>
                  <a:pt x="5506974" y="2813304"/>
                  <a:pt x="5433822" y="2829306"/>
                  <a:pt x="5368291" y="2861310"/>
                </a:cubicBezTo>
                <a:cubicBezTo>
                  <a:pt x="5302759" y="2893314"/>
                  <a:pt x="5250943" y="2948178"/>
                  <a:pt x="5212843" y="3025902"/>
                </a:cubicBezTo>
                <a:lnTo>
                  <a:pt x="5212843" y="2820162"/>
                </a:lnTo>
                <a:cubicBezTo>
                  <a:pt x="5165599" y="2830830"/>
                  <a:pt x="5114164" y="2838831"/>
                  <a:pt x="5058537" y="2844165"/>
                </a:cubicBezTo>
                <a:cubicBezTo>
                  <a:pt x="5002911" y="2849499"/>
                  <a:pt x="4943094" y="2852166"/>
                  <a:pt x="4879087" y="2852166"/>
                </a:cubicBezTo>
                <a:cubicBezTo>
                  <a:pt x="4833367" y="2852166"/>
                  <a:pt x="4786123" y="2849880"/>
                  <a:pt x="4737354" y="2845308"/>
                </a:cubicBezTo>
                <a:lnTo>
                  <a:pt x="4737354" y="2893314"/>
                </a:lnTo>
                <a:cubicBezTo>
                  <a:pt x="4793743" y="2893314"/>
                  <a:pt x="4832224" y="2909697"/>
                  <a:pt x="4852797" y="2942463"/>
                </a:cubicBezTo>
                <a:cubicBezTo>
                  <a:pt x="4873371" y="2975229"/>
                  <a:pt x="4883659" y="3025902"/>
                  <a:pt x="4883659" y="3094482"/>
                </a:cubicBezTo>
                <a:lnTo>
                  <a:pt x="4883659" y="3814572"/>
                </a:lnTo>
                <a:cubicBezTo>
                  <a:pt x="4883659" y="3878580"/>
                  <a:pt x="4872610" y="3922014"/>
                  <a:pt x="4850511" y="3944874"/>
                </a:cubicBezTo>
                <a:cubicBezTo>
                  <a:pt x="4828414" y="3967734"/>
                  <a:pt x="4790694" y="3979164"/>
                  <a:pt x="4737354" y="3979164"/>
                </a:cubicBezTo>
                <a:lnTo>
                  <a:pt x="4737354" y="4027170"/>
                </a:lnTo>
                <a:cubicBezTo>
                  <a:pt x="4767835" y="4025646"/>
                  <a:pt x="4813555" y="4023741"/>
                  <a:pt x="4874515" y="4021455"/>
                </a:cubicBezTo>
                <a:cubicBezTo>
                  <a:pt x="4935475" y="4019169"/>
                  <a:pt x="4994911" y="4018026"/>
                  <a:pt x="5052822" y="4018026"/>
                </a:cubicBezTo>
                <a:cubicBezTo>
                  <a:pt x="5109211" y="4018026"/>
                  <a:pt x="5163693" y="4019169"/>
                  <a:pt x="5216271" y="4021455"/>
                </a:cubicBezTo>
                <a:cubicBezTo>
                  <a:pt x="5268850" y="4023741"/>
                  <a:pt x="5308854" y="4025646"/>
                  <a:pt x="5336286" y="4027170"/>
                </a:cubicBezTo>
                <a:lnTo>
                  <a:pt x="5336286" y="3979164"/>
                </a:lnTo>
                <a:cubicBezTo>
                  <a:pt x="5292090" y="3979164"/>
                  <a:pt x="5260468" y="3967734"/>
                  <a:pt x="5241418" y="3944874"/>
                </a:cubicBezTo>
                <a:cubicBezTo>
                  <a:pt x="5222368" y="3922014"/>
                  <a:pt x="5212843" y="3878580"/>
                  <a:pt x="5212843" y="3814572"/>
                </a:cubicBezTo>
                <a:lnTo>
                  <a:pt x="5212843" y="3179064"/>
                </a:lnTo>
                <a:cubicBezTo>
                  <a:pt x="5212843" y="3128772"/>
                  <a:pt x="5223129" y="3083433"/>
                  <a:pt x="5243703" y="3043047"/>
                </a:cubicBezTo>
                <a:cubicBezTo>
                  <a:pt x="5264277" y="3002661"/>
                  <a:pt x="5291710" y="2971038"/>
                  <a:pt x="5326000" y="2948178"/>
                </a:cubicBezTo>
                <a:cubicBezTo>
                  <a:pt x="5360290" y="2925318"/>
                  <a:pt x="5398009" y="2913888"/>
                  <a:pt x="5439157" y="2913888"/>
                </a:cubicBezTo>
                <a:cubicBezTo>
                  <a:pt x="5478780" y="2913888"/>
                  <a:pt x="5508498" y="2921889"/>
                  <a:pt x="5528311" y="2937891"/>
                </a:cubicBezTo>
                <a:cubicBezTo>
                  <a:pt x="5548122" y="2953893"/>
                  <a:pt x="5561838" y="2975991"/>
                  <a:pt x="5569458" y="3004185"/>
                </a:cubicBezTo>
                <a:cubicBezTo>
                  <a:pt x="5577078" y="3032379"/>
                  <a:pt x="5580888" y="3065526"/>
                  <a:pt x="5580888" y="3103626"/>
                </a:cubicBezTo>
                <a:lnTo>
                  <a:pt x="5580888" y="3814572"/>
                </a:lnTo>
                <a:cubicBezTo>
                  <a:pt x="5580888" y="3878580"/>
                  <a:pt x="5571744" y="3922014"/>
                  <a:pt x="5553457" y="3944874"/>
                </a:cubicBezTo>
                <a:cubicBezTo>
                  <a:pt x="5535168" y="3967734"/>
                  <a:pt x="5503164" y="3979164"/>
                  <a:pt x="5457444" y="3979164"/>
                </a:cubicBezTo>
                <a:lnTo>
                  <a:pt x="5457444" y="4027170"/>
                </a:lnTo>
                <a:cubicBezTo>
                  <a:pt x="5486400" y="4025646"/>
                  <a:pt x="5528691" y="4023741"/>
                  <a:pt x="5584317" y="4021455"/>
                </a:cubicBezTo>
                <a:cubicBezTo>
                  <a:pt x="5639943" y="4019169"/>
                  <a:pt x="5696712" y="4018026"/>
                  <a:pt x="5754624" y="4018026"/>
                </a:cubicBezTo>
                <a:cubicBezTo>
                  <a:pt x="5811012" y="4018026"/>
                  <a:pt x="5868162" y="4019169"/>
                  <a:pt x="5926074" y="4021455"/>
                </a:cubicBezTo>
                <a:cubicBezTo>
                  <a:pt x="5983986" y="4023741"/>
                  <a:pt x="6027420" y="4025646"/>
                  <a:pt x="6056376" y="4027170"/>
                </a:cubicBezTo>
                <a:lnTo>
                  <a:pt x="6056376" y="3979164"/>
                </a:lnTo>
                <a:cubicBezTo>
                  <a:pt x="6003036" y="3979164"/>
                  <a:pt x="5965317" y="3967734"/>
                  <a:pt x="5943219" y="3944874"/>
                </a:cubicBezTo>
                <a:cubicBezTo>
                  <a:pt x="5921121" y="3922014"/>
                  <a:pt x="5910072" y="3878580"/>
                  <a:pt x="5910072" y="3814572"/>
                </a:cubicBezTo>
                <a:lnTo>
                  <a:pt x="5910072" y="3199638"/>
                </a:lnTo>
                <a:cubicBezTo>
                  <a:pt x="5910072" y="3121914"/>
                  <a:pt x="5904358" y="3060192"/>
                  <a:pt x="5892927" y="3014472"/>
                </a:cubicBezTo>
                <a:cubicBezTo>
                  <a:pt x="5881497" y="2968752"/>
                  <a:pt x="5863590" y="2931414"/>
                  <a:pt x="5839207" y="2902458"/>
                </a:cubicBezTo>
                <a:cubicBezTo>
                  <a:pt x="5816346" y="2875026"/>
                  <a:pt x="5784723" y="2853309"/>
                  <a:pt x="5744337" y="2837307"/>
                </a:cubicBezTo>
                <a:cubicBezTo>
                  <a:pt x="5703951" y="2821305"/>
                  <a:pt x="5651754" y="2813304"/>
                  <a:pt x="5587746" y="2813304"/>
                </a:cubicBezTo>
                <a:close/>
                <a:moveTo>
                  <a:pt x="4102608" y="2813304"/>
                </a:moveTo>
                <a:cubicBezTo>
                  <a:pt x="4032505" y="2813304"/>
                  <a:pt x="3967354" y="2820162"/>
                  <a:pt x="3907155" y="2833878"/>
                </a:cubicBezTo>
                <a:cubicBezTo>
                  <a:pt x="3846958" y="2847594"/>
                  <a:pt x="3795523" y="2866644"/>
                  <a:pt x="3752851" y="2891028"/>
                </a:cubicBezTo>
                <a:cubicBezTo>
                  <a:pt x="3713227" y="2916936"/>
                  <a:pt x="3682365" y="2944368"/>
                  <a:pt x="3660267" y="2973324"/>
                </a:cubicBezTo>
                <a:cubicBezTo>
                  <a:pt x="3638170" y="3002280"/>
                  <a:pt x="3627120" y="3038856"/>
                  <a:pt x="3627120" y="3083052"/>
                </a:cubicBezTo>
                <a:cubicBezTo>
                  <a:pt x="3627120" y="3131820"/>
                  <a:pt x="3641217" y="3173349"/>
                  <a:pt x="3669412" y="3207639"/>
                </a:cubicBezTo>
                <a:cubicBezTo>
                  <a:pt x="3697606" y="3241929"/>
                  <a:pt x="3739135" y="3259074"/>
                  <a:pt x="3793998" y="3259074"/>
                </a:cubicBezTo>
                <a:cubicBezTo>
                  <a:pt x="3842766" y="3259074"/>
                  <a:pt x="3885057" y="3243834"/>
                  <a:pt x="3920872" y="3213354"/>
                </a:cubicBezTo>
                <a:cubicBezTo>
                  <a:pt x="3956686" y="3182874"/>
                  <a:pt x="3974592" y="3141726"/>
                  <a:pt x="3974592" y="3089910"/>
                </a:cubicBezTo>
                <a:cubicBezTo>
                  <a:pt x="3974592" y="3050286"/>
                  <a:pt x="3962781" y="3014853"/>
                  <a:pt x="3939160" y="2983611"/>
                </a:cubicBezTo>
                <a:cubicBezTo>
                  <a:pt x="3915537" y="2952369"/>
                  <a:pt x="3882390" y="2929128"/>
                  <a:pt x="3839719" y="2913888"/>
                </a:cubicBezTo>
                <a:cubicBezTo>
                  <a:pt x="3859530" y="2894076"/>
                  <a:pt x="3884677" y="2879979"/>
                  <a:pt x="3915156" y="2871597"/>
                </a:cubicBezTo>
                <a:cubicBezTo>
                  <a:pt x="3945636" y="2863215"/>
                  <a:pt x="3976116" y="2859024"/>
                  <a:pt x="4006597" y="2859024"/>
                </a:cubicBezTo>
                <a:cubicBezTo>
                  <a:pt x="4049269" y="2859024"/>
                  <a:pt x="4083939" y="2867406"/>
                  <a:pt x="4110609" y="2884170"/>
                </a:cubicBezTo>
                <a:cubicBezTo>
                  <a:pt x="4137280" y="2900934"/>
                  <a:pt x="4157092" y="2924937"/>
                  <a:pt x="4170046" y="2956179"/>
                </a:cubicBezTo>
                <a:cubicBezTo>
                  <a:pt x="4183000" y="2987421"/>
                  <a:pt x="4189477" y="3022854"/>
                  <a:pt x="4189477" y="3062478"/>
                </a:cubicBezTo>
                <a:lnTo>
                  <a:pt x="4189477" y="3240786"/>
                </a:lnTo>
                <a:cubicBezTo>
                  <a:pt x="4189477" y="3275838"/>
                  <a:pt x="4174618" y="3304413"/>
                  <a:pt x="4144899" y="3326511"/>
                </a:cubicBezTo>
                <a:cubicBezTo>
                  <a:pt x="4115181" y="3348609"/>
                  <a:pt x="4076320" y="3367659"/>
                  <a:pt x="4028314" y="3383661"/>
                </a:cubicBezTo>
                <a:cubicBezTo>
                  <a:pt x="3980307" y="3399663"/>
                  <a:pt x="3930016" y="3416046"/>
                  <a:pt x="3877438" y="3432810"/>
                </a:cubicBezTo>
                <a:cubicBezTo>
                  <a:pt x="3824860" y="3449574"/>
                  <a:pt x="3774948" y="3470910"/>
                  <a:pt x="3727705" y="3496818"/>
                </a:cubicBezTo>
                <a:cubicBezTo>
                  <a:pt x="3680461" y="3522726"/>
                  <a:pt x="3641979" y="3556254"/>
                  <a:pt x="3612261" y="3597402"/>
                </a:cubicBezTo>
                <a:cubicBezTo>
                  <a:pt x="3582544" y="3638550"/>
                  <a:pt x="3567685" y="3691890"/>
                  <a:pt x="3567685" y="3757422"/>
                </a:cubicBezTo>
                <a:cubicBezTo>
                  <a:pt x="3567685" y="3809238"/>
                  <a:pt x="3578353" y="3856863"/>
                  <a:pt x="3599688" y="3900297"/>
                </a:cubicBezTo>
                <a:cubicBezTo>
                  <a:pt x="3621025" y="3943731"/>
                  <a:pt x="3654552" y="3978402"/>
                  <a:pt x="3700273" y="4004310"/>
                </a:cubicBezTo>
                <a:cubicBezTo>
                  <a:pt x="3745992" y="4030218"/>
                  <a:pt x="3803142" y="4043172"/>
                  <a:pt x="3871723" y="4043172"/>
                </a:cubicBezTo>
                <a:cubicBezTo>
                  <a:pt x="3946399" y="4043172"/>
                  <a:pt x="4009645" y="4026789"/>
                  <a:pt x="4061461" y="3994023"/>
                </a:cubicBezTo>
                <a:cubicBezTo>
                  <a:pt x="4113276" y="3961257"/>
                  <a:pt x="4157472" y="3915918"/>
                  <a:pt x="4194049" y="3858006"/>
                </a:cubicBezTo>
                <a:cubicBezTo>
                  <a:pt x="4194049" y="3894582"/>
                  <a:pt x="4201287" y="3926586"/>
                  <a:pt x="4215765" y="3954018"/>
                </a:cubicBezTo>
                <a:cubicBezTo>
                  <a:pt x="4230243" y="3981450"/>
                  <a:pt x="4254246" y="4003167"/>
                  <a:pt x="4287775" y="4019169"/>
                </a:cubicBezTo>
                <a:cubicBezTo>
                  <a:pt x="4321302" y="4035171"/>
                  <a:pt x="4366261" y="4043172"/>
                  <a:pt x="4422648" y="4043172"/>
                </a:cubicBezTo>
                <a:cubicBezTo>
                  <a:pt x="4474464" y="4043172"/>
                  <a:pt x="4521327" y="4035933"/>
                  <a:pt x="4563238" y="4021455"/>
                </a:cubicBezTo>
                <a:cubicBezTo>
                  <a:pt x="4605147" y="4006977"/>
                  <a:pt x="4642104" y="3986022"/>
                  <a:pt x="4674108" y="3958590"/>
                </a:cubicBezTo>
                <a:lnTo>
                  <a:pt x="4651249" y="3919728"/>
                </a:lnTo>
                <a:cubicBezTo>
                  <a:pt x="4636009" y="3930396"/>
                  <a:pt x="4621911" y="3939540"/>
                  <a:pt x="4608957" y="3947160"/>
                </a:cubicBezTo>
                <a:cubicBezTo>
                  <a:pt x="4596004" y="3954780"/>
                  <a:pt x="4582668" y="3958590"/>
                  <a:pt x="4568952" y="3958590"/>
                </a:cubicBezTo>
                <a:cubicBezTo>
                  <a:pt x="4550665" y="3958590"/>
                  <a:pt x="4537710" y="3951351"/>
                  <a:pt x="4530090" y="3936873"/>
                </a:cubicBezTo>
                <a:cubicBezTo>
                  <a:pt x="4522470" y="3922395"/>
                  <a:pt x="4518660" y="3896106"/>
                  <a:pt x="4518660" y="3858006"/>
                </a:cubicBezTo>
                <a:lnTo>
                  <a:pt x="4518660" y="3236214"/>
                </a:lnTo>
                <a:cubicBezTo>
                  <a:pt x="4518660" y="3158490"/>
                  <a:pt x="4513327" y="3094101"/>
                  <a:pt x="4502658" y="3043047"/>
                </a:cubicBezTo>
                <a:cubicBezTo>
                  <a:pt x="4491990" y="2991993"/>
                  <a:pt x="4469131" y="2948940"/>
                  <a:pt x="4434079" y="2913888"/>
                </a:cubicBezTo>
                <a:cubicBezTo>
                  <a:pt x="4395978" y="2875788"/>
                  <a:pt x="4348734" y="2849499"/>
                  <a:pt x="4292347" y="2835021"/>
                </a:cubicBezTo>
                <a:cubicBezTo>
                  <a:pt x="4235958" y="2820543"/>
                  <a:pt x="4172712" y="2813304"/>
                  <a:pt x="4102608" y="2813304"/>
                </a:cubicBezTo>
                <a:close/>
                <a:moveTo>
                  <a:pt x="643890" y="2408682"/>
                </a:moveTo>
                <a:cubicBezTo>
                  <a:pt x="649986" y="2486406"/>
                  <a:pt x="654177" y="2561082"/>
                  <a:pt x="656463" y="2632710"/>
                </a:cubicBezTo>
                <a:cubicBezTo>
                  <a:pt x="658749" y="2704338"/>
                  <a:pt x="659892" y="2759202"/>
                  <a:pt x="659892" y="2797302"/>
                </a:cubicBezTo>
                <a:cubicBezTo>
                  <a:pt x="659892" y="2830830"/>
                  <a:pt x="659511" y="2862834"/>
                  <a:pt x="658749" y="2893314"/>
                </a:cubicBezTo>
                <a:cubicBezTo>
                  <a:pt x="657987" y="2923794"/>
                  <a:pt x="656082" y="2949702"/>
                  <a:pt x="653034" y="2971038"/>
                </a:cubicBezTo>
                <a:lnTo>
                  <a:pt x="705612" y="2971038"/>
                </a:lnTo>
                <a:cubicBezTo>
                  <a:pt x="733044" y="2841498"/>
                  <a:pt x="765048" y="2739771"/>
                  <a:pt x="801624" y="2665857"/>
                </a:cubicBezTo>
                <a:cubicBezTo>
                  <a:pt x="838200" y="2591943"/>
                  <a:pt x="882396" y="2539365"/>
                  <a:pt x="934212" y="2508123"/>
                </a:cubicBezTo>
                <a:cubicBezTo>
                  <a:pt x="986029" y="2476881"/>
                  <a:pt x="1046988" y="2461260"/>
                  <a:pt x="1117092" y="2461260"/>
                </a:cubicBezTo>
                <a:lnTo>
                  <a:pt x="1167384" y="2461260"/>
                </a:lnTo>
                <a:lnTo>
                  <a:pt x="1167384" y="3766566"/>
                </a:lnTo>
                <a:cubicBezTo>
                  <a:pt x="1167384" y="3827526"/>
                  <a:pt x="1161289" y="3873246"/>
                  <a:pt x="1149097" y="3903726"/>
                </a:cubicBezTo>
                <a:cubicBezTo>
                  <a:pt x="1136904" y="3934206"/>
                  <a:pt x="1113282" y="3954399"/>
                  <a:pt x="1078230" y="3964305"/>
                </a:cubicBezTo>
                <a:cubicBezTo>
                  <a:pt x="1043179" y="3974211"/>
                  <a:pt x="991362" y="3979926"/>
                  <a:pt x="922782" y="3981450"/>
                </a:cubicBezTo>
                <a:lnTo>
                  <a:pt x="922782" y="4027170"/>
                </a:lnTo>
                <a:cubicBezTo>
                  <a:pt x="968502" y="4025646"/>
                  <a:pt x="1028700" y="4024122"/>
                  <a:pt x="1103377" y="4022598"/>
                </a:cubicBezTo>
                <a:cubicBezTo>
                  <a:pt x="1178052" y="4021074"/>
                  <a:pt x="1257300" y="4020312"/>
                  <a:pt x="1341120" y="4020312"/>
                </a:cubicBezTo>
                <a:cubicBezTo>
                  <a:pt x="1426464" y="4020312"/>
                  <a:pt x="1508379" y="4021074"/>
                  <a:pt x="1586865" y="4022598"/>
                </a:cubicBezTo>
                <a:cubicBezTo>
                  <a:pt x="1665352" y="4024122"/>
                  <a:pt x="1728216" y="4025646"/>
                  <a:pt x="1775461" y="4027170"/>
                </a:cubicBezTo>
                <a:lnTo>
                  <a:pt x="1775461" y="3981450"/>
                </a:lnTo>
                <a:cubicBezTo>
                  <a:pt x="1708404" y="3979926"/>
                  <a:pt x="1657350" y="3974211"/>
                  <a:pt x="1622298" y="3964305"/>
                </a:cubicBezTo>
                <a:cubicBezTo>
                  <a:pt x="1587246" y="3954399"/>
                  <a:pt x="1563243" y="3934206"/>
                  <a:pt x="1550290" y="3903726"/>
                </a:cubicBezTo>
                <a:cubicBezTo>
                  <a:pt x="1537336" y="3873246"/>
                  <a:pt x="1530858" y="3827526"/>
                  <a:pt x="1530858" y="3766566"/>
                </a:cubicBezTo>
                <a:lnTo>
                  <a:pt x="1530858" y="2461260"/>
                </a:lnTo>
                <a:lnTo>
                  <a:pt x="1583436" y="2461260"/>
                </a:lnTo>
                <a:cubicBezTo>
                  <a:pt x="1653540" y="2461260"/>
                  <a:pt x="1714500" y="2476881"/>
                  <a:pt x="1766316" y="2508123"/>
                </a:cubicBezTo>
                <a:cubicBezTo>
                  <a:pt x="1818133" y="2539365"/>
                  <a:pt x="1862710" y="2592324"/>
                  <a:pt x="1900047" y="2667000"/>
                </a:cubicBezTo>
                <a:cubicBezTo>
                  <a:pt x="1937385" y="2741676"/>
                  <a:pt x="1968246" y="2843022"/>
                  <a:pt x="1992630" y="2971038"/>
                </a:cubicBezTo>
                <a:lnTo>
                  <a:pt x="2045208" y="2971038"/>
                </a:lnTo>
                <a:cubicBezTo>
                  <a:pt x="2043684" y="2949702"/>
                  <a:pt x="2042161" y="2923794"/>
                  <a:pt x="2040636" y="2893314"/>
                </a:cubicBezTo>
                <a:cubicBezTo>
                  <a:pt x="2039112" y="2862834"/>
                  <a:pt x="2038350" y="2830830"/>
                  <a:pt x="2038350" y="2797302"/>
                </a:cubicBezTo>
                <a:cubicBezTo>
                  <a:pt x="2038350" y="2759202"/>
                  <a:pt x="2039493" y="2704338"/>
                  <a:pt x="2041779" y="2632710"/>
                </a:cubicBezTo>
                <a:cubicBezTo>
                  <a:pt x="2044066" y="2561082"/>
                  <a:pt x="2048257" y="2486406"/>
                  <a:pt x="2054353" y="2408682"/>
                </a:cubicBezTo>
                <a:cubicBezTo>
                  <a:pt x="1987296" y="2410206"/>
                  <a:pt x="1911858" y="2411730"/>
                  <a:pt x="1828039" y="2413254"/>
                </a:cubicBezTo>
                <a:cubicBezTo>
                  <a:pt x="1744218" y="2414778"/>
                  <a:pt x="1660779" y="2415540"/>
                  <a:pt x="1577721" y="2415540"/>
                </a:cubicBezTo>
                <a:cubicBezTo>
                  <a:pt x="1494664" y="2415540"/>
                  <a:pt x="1418844" y="2415540"/>
                  <a:pt x="1350264" y="2415540"/>
                </a:cubicBezTo>
                <a:cubicBezTo>
                  <a:pt x="1283208" y="2415540"/>
                  <a:pt x="1207770" y="2415540"/>
                  <a:pt x="1123950" y="2415540"/>
                </a:cubicBezTo>
                <a:cubicBezTo>
                  <a:pt x="1040130" y="2415540"/>
                  <a:pt x="956691" y="2414778"/>
                  <a:pt x="873633" y="2413254"/>
                </a:cubicBezTo>
                <a:cubicBezTo>
                  <a:pt x="790575" y="2411730"/>
                  <a:pt x="713994" y="2410206"/>
                  <a:pt x="643890" y="2408682"/>
                </a:cubicBezTo>
                <a:close/>
                <a:moveTo>
                  <a:pt x="2629662" y="2239518"/>
                </a:moveTo>
                <a:cubicBezTo>
                  <a:pt x="2582419" y="2250186"/>
                  <a:pt x="2530603" y="2258187"/>
                  <a:pt x="2474214" y="2263521"/>
                </a:cubicBezTo>
                <a:cubicBezTo>
                  <a:pt x="2417827" y="2268855"/>
                  <a:pt x="2358391" y="2271522"/>
                  <a:pt x="2295906" y="2271522"/>
                </a:cubicBezTo>
                <a:cubicBezTo>
                  <a:pt x="2250187" y="2271522"/>
                  <a:pt x="2202942" y="2269236"/>
                  <a:pt x="2154174" y="2264664"/>
                </a:cubicBezTo>
                <a:lnTo>
                  <a:pt x="2154174" y="2312670"/>
                </a:lnTo>
                <a:cubicBezTo>
                  <a:pt x="2210562" y="2312670"/>
                  <a:pt x="2249044" y="2329053"/>
                  <a:pt x="2269618" y="2361819"/>
                </a:cubicBezTo>
                <a:cubicBezTo>
                  <a:pt x="2290192" y="2394585"/>
                  <a:pt x="2300478" y="2445258"/>
                  <a:pt x="2300478" y="2513838"/>
                </a:cubicBezTo>
                <a:lnTo>
                  <a:pt x="2300478" y="3814572"/>
                </a:lnTo>
                <a:cubicBezTo>
                  <a:pt x="2300478" y="3878580"/>
                  <a:pt x="2289429" y="3922014"/>
                  <a:pt x="2267332" y="3944874"/>
                </a:cubicBezTo>
                <a:cubicBezTo>
                  <a:pt x="2245233" y="3967734"/>
                  <a:pt x="2207515" y="3979164"/>
                  <a:pt x="2154174" y="3979164"/>
                </a:cubicBezTo>
                <a:lnTo>
                  <a:pt x="2154174" y="4027170"/>
                </a:lnTo>
                <a:cubicBezTo>
                  <a:pt x="2184654" y="4025646"/>
                  <a:pt x="2229994" y="4023741"/>
                  <a:pt x="2290192" y="4021455"/>
                </a:cubicBezTo>
                <a:cubicBezTo>
                  <a:pt x="2350390" y="4019169"/>
                  <a:pt x="2410207" y="4018026"/>
                  <a:pt x="2469643" y="4018026"/>
                </a:cubicBezTo>
                <a:cubicBezTo>
                  <a:pt x="2524507" y="4018026"/>
                  <a:pt x="2578608" y="4019169"/>
                  <a:pt x="2631948" y="4021455"/>
                </a:cubicBezTo>
                <a:cubicBezTo>
                  <a:pt x="2685289" y="4023741"/>
                  <a:pt x="2725675" y="4025646"/>
                  <a:pt x="2753107" y="4027170"/>
                </a:cubicBezTo>
                <a:lnTo>
                  <a:pt x="2753107" y="3979164"/>
                </a:lnTo>
                <a:cubicBezTo>
                  <a:pt x="2707386" y="3979164"/>
                  <a:pt x="2675383" y="3967734"/>
                  <a:pt x="2657094" y="3944874"/>
                </a:cubicBezTo>
                <a:cubicBezTo>
                  <a:pt x="2638807" y="3922014"/>
                  <a:pt x="2629662" y="3878580"/>
                  <a:pt x="2629662" y="3814572"/>
                </a:cubicBezTo>
                <a:lnTo>
                  <a:pt x="2629662" y="3176778"/>
                </a:lnTo>
                <a:cubicBezTo>
                  <a:pt x="2629662" y="3124962"/>
                  <a:pt x="2639950" y="3079242"/>
                  <a:pt x="2660524" y="3039618"/>
                </a:cubicBezTo>
                <a:cubicBezTo>
                  <a:pt x="2681098" y="2999994"/>
                  <a:pt x="2708530" y="2969133"/>
                  <a:pt x="2742820" y="2947035"/>
                </a:cubicBezTo>
                <a:cubicBezTo>
                  <a:pt x="2777110" y="2924937"/>
                  <a:pt x="2814828" y="2913888"/>
                  <a:pt x="2855977" y="2913888"/>
                </a:cubicBezTo>
                <a:cubicBezTo>
                  <a:pt x="2894077" y="2913888"/>
                  <a:pt x="2923414" y="2921889"/>
                  <a:pt x="2943988" y="2937891"/>
                </a:cubicBezTo>
                <a:cubicBezTo>
                  <a:pt x="2964561" y="2953893"/>
                  <a:pt x="2978659" y="2975991"/>
                  <a:pt x="2986278" y="3004185"/>
                </a:cubicBezTo>
                <a:cubicBezTo>
                  <a:pt x="2993898" y="3032379"/>
                  <a:pt x="2997708" y="3065526"/>
                  <a:pt x="2997708" y="3103626"/>
                </a:cubicBezTo>
                <a:lnTo>
                  <a:pt x="2997708" y="3814572"/>
                </a:lnTo>
                <a:cubicBezTo>
                  <a:pt x="2997708" y="3878580"/>
                  <a:pt x="2988564" y="3922014"/>
                  <a:pt x="2970276" y="3944874"/>
                </a:cubicBezTo>
                <a:cubicBezTo>
                  <a:pt x="2951989" y="3967734"/>
                  <a:pt x="2919985" y="3979164"/>
                  <a:pt x="2874265" y="3979164"/>
                </a:cubicBezTo>
                <a:lnTo>
                  <a:pt x="2874265" y="4027170"/>
                </a:lnTo>
                <a:cubicBezTo>
                  <a:pt x="2901697" y="4025646"/>
                  <a:pt x="2943226" y="4023741"/>
                  <a:pt x="2998851" y="4021455"/>
                </a:cubicBezTo>
                <a:cubicBezTo>
                  <a:pt x="3054477" y="4019169"/>
                  <a:pt x="3112009" y="4018026"/>
                  <a:pt x="3171444" y="4018026"/>
                </a:cubicBezTo>
                <a:cubicBezTo>
                  <a:pt x="3226309" y="4018026"/>
                  <a:pt x="3283077" y="4019169"/>
                  <a:pt x="3341751" y="4021455"/>
                </a:cubicBezTo>
                <a:cubicBezTo>
                  <a:pt x="3400426" y="4023741"/>
                  <a:pt x="3444240" y="4025646"/>
                  <a:pt x="3473197" y="4027170"/>
                </a:cubicBezTo>
                <a:lnTo>
                  <a:pt x="3473197" y="3979164"/>
                </a:lnTo>
                <a:cubicBezTo>
                  <a:pt x="3419856" y="3979164"/>
                  <a:pt x="3382138" y="3967734"/>
                  <a:pt x="3360039" y="3944874"/>
                </a:cubicBezTo>
                <a:cubicBezTo>
                  <a:pt x="3337941" y="3922014"/>
                  <a:pt x="3326893" y="3878580"/>
                  <a:pt x="3326893" y="3814572"/>
                </a:cubicBezTo>
                <a:lnTo>
                  <a:pt x="3326893" y="3199638"/>
                </a:lnTo>
                <a:cubicBezTo>
                  <a:pt x="3326893" y="3121914"/>
                  <a:pt x="3321177" y="3060192"/>
                  <a:pt x="3309748" y="3014472"/>
                </a:cubicBezTo>
                <a:cubicBezTo>
                  <a:pt x="3298318" y="2968752"/>
                  <a:pt x="3279649" y="2931414"/>
                  <a:pt x="3253740" y="2902458"/>
                </a:cubicBezTo>
                <a:cubicBezTo>
                  <a:pt x="3230880" y="2875026"/>
                  <a:pt x="3199639" y="2853309"/>
                  <a:pt x="3160015" y="2837307"/>
                </a:cubicBezTo>
                <a:cubicBezTo>
                  <a:pt x="3120391" y="2821305"/>
                  <a:pt x="3067813" y="2813304"/>
                  <a:pt x="3002280" y="2813304"/>
                </a:cubicBezTo>
                <a:cubicBezTo>
                  <a:pt x="2921509" y="2813304"/>
                  <a:pt x="2848738" y="2828925"/>
                  <a:pt x="2783968" y="2860167"/>
                </a:cubicBezTo>
                <a:cubicBezTo>
                  <a:pt x="2719197" y="2891409"/>
                  <a:pt x="2667763" y="2946654"/>
                  <a:pt x="2629662" y="3025902"/>
                </a:cubicBezTo>
                <a:close/>
                <a:moveTo>
                  <a:pt x="6601587" y="2237232"/>
                </a:moveTo>
                <a:cubicBezTo>
                  <a:pt x="6554343" y="2247900"/>
                  <a:pt x="6502527" y="2255901"/>
                  <a:pt x="6446139" y="2261235"/>
                </a:cubicBezTo>
                <a:cubicBezTo>
                  <a:pt x="6389751" y="2266569"/>
                  <a:pt x="6330315" y="2269236"/>
                  <a:pt x="6267831" y="2269236"/>
                </a:cubicBezTo>
                <a:cubicBezTo>
                  <a:pt x="6222111" y="2269236"/>
                  <a:pt x="6174867" y="2266950"/>
                  <a:pt x="6126099" y="2262378"/>
                </a:cubicBezTo>
                <a:lnTo>
                  <a:pt x="6126099" y="2310384"/>
                </a:lnTo>
                <a:cubicBezTo>
                  <a:pt x="6182487" y="2310384"/>
                  <a:pt x="6220968" y="2326767"/>
                  <a:pt x="6241542" y="2359533"/>
                </a:cubicBezTo>
                <a:cubicBezTo>
                  <a:pt x="6262116" y="2392299"/>
                  <a:pt x="6272403" y="2442972"/>
                  <a:pt x="6272403" y="2511552"/>
                </a:cubicBezTo>
                <a:lnTo>
                  <a:pt x="6272403" y="3814572"/>
                </a:lnTo>
                <a:cubicBezTo>
                  <a:pt x="6272403" y="3878580"/>
                  <a:pt x="6261354" y="3922014"/>
                  <a:pt x="6239256" y="3944874"/>
                </a:cubicBezTo>
                <a:cubicBezTo>
                  <a:pt x="6217158" y="3967734"/>
                  <a:pt x="6179439" y="3979164"/>
                  <a:pt x="6126099" y="3979164"/>
                </a:cubicBezTo>
                <a:lnTo>
                  <a:pt x="6126099" y="4027170"/>
                </a:lnTo>
                <a:cubicBezTo>
                  <a:pt x="6156579" y="4025646"/>
                  <a:pt x="6201918" y="4023741"/>
                  <a:pt x="6262116" y="4021455"/>
                </a:cubicBezTo>
                <a:cubicBezTo>
                  <a:pt x="6322314" y="4019169"/>
                  <a:pt x="6382131" y="4018026"/>
                  <a:pt x="6441567" y="4018026"/>
                </a:cubicBezTo>
                <a:cubicBezTo>
                  <a:pt x="6499479" y="4018026"/>
                  <a:pt x="6556248" y="4019169"/>
                  <a:pt x="6611874" y="4021455"/>
                </a:cubicBezTo>
                <a:cubicBezTo>
                  <a:pt x="6667500" y="4023741"/>
                  <a:pt x="6709791" y="4025646"/>
                  <a:pt x="6738747" y="4027170"/>
                </a:cubicBezTo>
                <a:lnTo>
                  <a:pt x="6738747" y="3979164"/>
                </a:lnTo>
                <a:cubicBezTo>
                  <a:pt x="6688455" y="3979164"/>
                  <a:pt x="6653022" y="3967734"/>
                  <a:pt x="6632448" y="3944874"/>
                </a:cubicBezTo>
                <a:cubicBezTo>
                  <a:pt x="6611874" y="3922014"/>
                  <a:pt x="6601587" y="3878580"/>
                  <a:pt x="6601587" y="3814572"/>
                </a:cubicBezTo>
                <a:lnTo>
                  <a:pt x="6601587" y="3422799"/>
                </a:lnTo>
                <a:lnTo>
                  <a:pt x="6629305" y="3426238"/>
                </a:lnTo>
                <a:cubicBezTo>
                  <a:pt x="6640925" y="3428714"/>
                  <a:pt x="6651118" y="3432048"/>
                  <a:pt x="6659880" y="3436239"/>
                </a:cubicBezTo>
                <a:cubicBezTo>
                  <a:pt x="6677406" y="3444621"/>
                  <a:pt x="6695313" y="3463290"/>
                  <a:pt x="6713601" y="3492246"/>
                </a:cubicBezTo>
                <a:lnTo>
                  <a:pt x="6939915" y="3901440"/>
                </a:lnTo>
                <a:cubicBezTo>
                  <a:pt x="6953631" y="3924300"/>
                  <a:pt x="6955155" y="3942969"/>
                  <a:pt x="6944487" y="3957447"/>
                </a:cubicBezTo>
                <a:cubicBezTo>
                  <a:pt x="6933819" y="3971925"/>
                  <a:pt x="6913245" y="3979164"/>
                  <a:pt x="6882765" y="3979164"/>
                </a:cubicBezTo>
                <a:lnTo>
                  <a:pt x="6882765" y="4027170"/>
                </a:lnTo>
                <a:cubicBezTo>
                  <a:pt x="6910197" y="4025646"/>
                  <a:pt x="6952107" y="4023741"/>
                  <a:pt x="7008495" y="4021455"/>
                </a:cubicBezTo>
                <a:cubicBezTo>
                  <a:pt x="7064883" y="4019169"/>
                  <a:pt x="7121271" y="4018026"/>
                  <a:pt x="7177659" y="4018026"/>
                </a:cubicBezTo>
                <a:cubicBezTo>
                  <a:pt x="7223379" y="4018026"/>
                  <a:pt x="7269099" y="4019169"/>
                  <a:pt x="7314819" y="4021455"/>
                </a:cubicBezTo>
                <a:cubicBezTo>
                  <a:pt x="7360539" y="4023741"/>
                  <a:pt x="7394829" y="4025646"/>
                  <a:pt x="7417689" y="4027170"/>
                </a:cubicBezTo>
                <a:lnTo>
                  <a:pt x="7417689" y="3979164"/>
                </a:lnTo>
                <a:cubicBezTo>
                  <a:pt x="7391781" y="3970020"/>
                  <a:pt x="7369683" y="3954780"/>
                  <a:pt x="7351395" y="3933444"/>
                </a:cubicBezTo>
                <a:cubicBezTo>
                  <a:pt x="7333107" y="3912108"/>
                  <a:pt x="7315581" y="3887724"/>
                  <a:pt x="7298817" y="3860292"/>
                </a:cubicBezTo>
                <a:lnTo>
                  <a:pt x="6915171" y="3218637"/>
                </a:lnTo>
                <a:lnTo>
                  <a:pt x="7061073" y="3067050"/>
                </a:lnTo>
                <a:cubicBezTo>
                  <a:pt x="7109841" y="3019806"/>
                  <a:pt x="7157847" y="2980944"/>
                  <a:pt x="7205091" y="2950464"/>
                </a:cubicBezTo>
                <a:cubicBezTo>
                  <a:pt x="7252335" y="2919984"/>
                  <a:pt x="7299579" y="2900172"/>
                  <a:pt x="7346823" y="2891028"/>
                </a:cubicBezTo>
                <a:lnTo>
                  <a:pt x="7346823" y="2845308"/>
                </a:lnTo>
                <a:cubicBezTo>
                  <a:pt x="7328535" y="2846832"/>
                  <a:pt x="7304151" y="2847975"/>
                  <a:pt x="7273671" y="2848737"/>
                </a:cubicBezTo>
                <a:cubicBezTo>
                  <a:pt x="7243191" y="2849499"/>
                  <a:pt x="7210806" y="2850261"/>
                  <a:pt x="7176516" y="2851023"/>
                </a:cubicBezTo>
                <a:cubicBezTo>
                  <a:pt x="7142226" y="2851785"/>
                  <a:pt x="7109841" y="2852166"/>
                  <a:pt x="7079361" y="2852166"/>
                </a:cubicBezTo>
                <a:cubicBezTo>
                  <a:pt x="7044309" y="2852166"/>
                  <a:pt x="7001637" y="2851404"/>
                  <a:pt x="6951345" y="2849880"/>
                </a:cubicBezTo>
                <a:cubicBezTo>
                  <a:pt x="6901053" y="2848356"/>
                  <a:pt x="6854571" y="2846832"/>
                  <a:pt x="6811899" y="2845308"/>
                </a:cubicBezTo>
                <a:lnTo>
                  <a:pt x="6811899" y="2891028"/>
                </a:lnTo>
                <a:cubicBezTo>
                  <a:pt x="6865239" y="2892552"/>
                  <a:pt x="6908292" y="2904744"/>
                  <a:pt x="6941058" y="2927604"/>
                </a:cubicBezTo>
                <a:cubicBezTo>
                  <a:pt x="6973824" y="2950464"/>
                  <a:pt x="6990207" y="2980944"/>
                  <a:pt x="6990207" y="3019044"/>
                </a:cubicBezTo>
                <a:cubicBezTo>
                  <a:pt x="6990207" y="3057144"/>
                  <a:pt x="6964299" y="3100578"/>
                  <a:pt x="6912483" y="3149346"/>
                </a:cubicBezTo>
                <a:lnTo>
                  <a:pt x="6738747" y="3318510"/>
                </a:lnTo>
                <a:cubicBezTo>
                  <a:pt x="6718935" y="3339846"/>
                  <a:pt x="6697218" y="3354324"/>
                  <a:pt x="6673596" y="3361944"/>
                </a:cubicBezTo>
                <a:cubicBezTo>
                  <a:pt x="6661785" y="3365754"/>
                  <a:pt x="6648926" y="3368993"/>
                  <a:pt x="6635020" y="3371660"/>
                </a:cubicBezTo>
                <a:lnTo>
                  <a:pt x="6601587" y="3376345"/>
                </a:lnTo>
                <a:close/>
                <a:moveTo>
                  <a:pt x="0" y="0"/>
                </a:moveTo>
                <a:lnTo>
                  <a:pt x="12192000" y="0"/>
                </a:lnTo>
                <a:lnTo>
                  <a:pt x="12192000" y="6858000"/>
                </a:lnTo>
                <a:lnTo>
                  <a:pt x="0" y="6858000"/>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95823292"/>
      </p:ext>
    </p:extLst>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test">
      <a:dk1>
        <a:srgbClr val="153D64"/>
      </a:dk1>
      <a:lt1>
        <a:srgbClr val="E6F0FA"/>
      </a:lt1>
      <a:dk2>
        <a:srgbClr val="0A3041"/>
      </a:dk2>
      <a:lt2>
        <a:srgbClr val="E6F0FA"/>
      </a:lt2>
      <a:accent1>
        <a:srgbClr val="45B0E1"/>
      </a:accent1>
      <a:accent2>
        <a:srgbClr val="BF4F14"/>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1172</Words>
  <Application>Microsoft Office PowerPoint</Application>
  <PresentationFormat>Widescreen</PresentationFormat>
  <Paragraphs>200</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Sheikh Aman</dc:creator>
  <cp:lastModifiedBy>Sheikh Aman</cp:lastModifiedBy>
  <cp:revision>2</cp:revision>
  <dcterms:created xsi:type="dcterms:W3CDTF">2025-12-12T14:36:18Z</dcterms:created>
  <dcterms:modified xsi:type="dcterms:W3CDTF">2025-12-12T17:41:52Z</dcterms:modified>
</cp:coreProperties>
</file>